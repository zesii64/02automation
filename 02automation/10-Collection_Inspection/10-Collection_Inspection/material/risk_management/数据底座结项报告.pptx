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007578322" r:id="rId3"/>
    <p:sldId id="2007578188" r:id="rId4"/>
    <p:sldId id="2007578336" r:id="rId5"/>
    <p:sldId id="2007578326" r:id="rId6"/>
    <p:sldId id="2007578339" r:id="rId7"/>
    <p:sldId id="2007578340" r:id="rId8"/>
    <p:sldId id="2007578329" r:id="rId9"/>
    <p:sldId id="2007578337" r:id="rId10"/>
    <p:sldId id="2007578343" r:id="rId11"/>
    <p:sldId id="2007578341" r:id="rId12"/>
    <p:sldId id="2007578344" r:id="rId13"/>
    <p:sldId id="2007578328" r:id="rId14"/>
    <p:sldId id="2007578342" r:id="rId15"/>
    <p:sldId id="2007578273" r:id="rId16"/>
    <p:sldId id="2007578275" r:id="rId17"/>
    <p:sldId id="2007578276" r:id="rId18"/>
    <p:sldId id="2007578277" r:id="rId19"/>
    <p:sldId id="2007578274" r:id="rId20"/>
    <p:sldId id="2007578335" r:id="rId21"/>
    <p:sldId id="200757815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7BC61FE-45CD-4D65-AED9-B5D2D4418E2B}">
          <p14:sldIdLst>
            <p14:sldId id="257"/>
            <p14:sldId id="2007578322"/>
            <p14:sldId id="2007578188"/>
            <p14:sldId id="2007578336"/>
            <p14:sldId id="2007578326"/>
            <p14:sldId id="2007578339"/>
            <p14:sldId id="2007578340"/>
            <p14:sldId id="2007578329"/>
            <p14:sldId id="2007578337"/>
            <p14:sldId id="2007578343"/>
            <p14:sldId id="2007578341"/>
            <p14:sldId id="2007578344"/>
            <p14:sldId id="2007578328"/>
            <p14:sldId id="2007578342"/>
            <p14:sldId id="2007578273"/>
            <p14:sldId id="2007578275"/>
            <p14:sldId id="2007578276"/>
            <p14:sldId id="2007578277"/>
            <p14:sldId id="2007578274"/>
            <p14:sldId id="2007578335"/>
            <p14:sldId id="20075781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昀天-Elena" initials="张昀天-Elena" lastIdx="6" clrIdx="0">
    <p:extLst>
      <p:ext uri="{19B8F6BF-5375-455C-9EA6-DF929625EA0E}">
        <p15:presenceInfo xmlns:p15="http://schemas.microsoft.com/office/powerpoint/2012/main" userId="S::zhangyuntian@xinye.com::06d6ed47-6f5a-4110-8cb9-fe5acb6c34d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AEDE"/>
    <a:srgbClr val="85A2D7"/>
    <a:srgbClr val="5A82CA"/>
    <a:srgbClr val="305496"/>
    <a:srgbClr val="7193D1"/>
    <a:srgbClr val="B0C2E6"/>
    <a:srgbClr val="D0DBF0"/>
    <a:srgbClr val="8AA5DA"/>
    <a:srgbClr val="6288C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95887" autoAdjust="0"/>
  </p:normalViewPr>
  <p:slideViewPr>
    <p:cSldViewPr snapToGrid="0">
      <p:cViewPr varScale="1">
        <p:scale>
          <a:sx n="98" d="100"/>
          <a:sy n="98" d="100"/>
        </p:scale>
        <p:origin x="49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zhangjunwu\BigData\data%20service\international\philippines\&#33778;&#24459;&#23486;&#25968;&#20179;\&#20652;&#25910;\&#20652;&#25910;&#25928;&#26524;&#22270;.csv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\\Users\zhangjunwu\BigData\data%20service\international\philippines\&#33778;&#24459;&#23486;&#25968;&#20179;\&#20652;&#25910;\&#20652;&#25910;&#25928;&#26524;&#22270;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时效性提升</a:t>
            </a:r>
            <a:endParaRPr kumimoji="0" lang="zh-CN" altLang="en" sz="1400" b="1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催收效果图!$B$1</c:f>
              <c:strCache>
                <c:ptCount val="1"/>
                <c:pt idx="0">
                  <c:v>优化前耗时（s）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_);[Red]\(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" panose="020B0604020202020204" pitchFamily="34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催收效果图!$A$2:$A$9</c:f>
              <c:strCache>
                <c:ptCount val="8"/>
                <c:pt idx="0">
                  <c:v>11_agent_process_tt</c:v>
                </c:pt>
                <c:pt idx="1">
                  <c:v>phl_fin_01</c:v>
                </c:pt>
                <c:pt idx="2">
                  <c:v>01_eoc_debt</c:v>
                </c:pt>
                <c:pt idx="3">
                  <c:v>09_eoc_tt_sum_temp</c:v>
                </c:pt>
                <c:pt idx="4">
                  <c:v>09_eoc_lazada_sum</c:v>
                </c:pt>
                <c:pt idx="5">
                  <c:v>CL_phl_fin_01</c:v>
                </c:pt>
                <c:pt idx="6">
                  <c:v>Lazada_phl_fin_01</c:v>
                </c:pt>
                <c:pt idx="7">
                  <c:v>phl_fin_01</c:v>
                </c:pt>
              </c:strCache>
            </c:strRef>
          </c:cat>
          <c:val>
            <c:numRef>
              <c:f>催收效果图!$B$2:$B$9</c:f>
              <c:numCache>
                <c:formatCode>General</c:formatCode>
                <c:ptCount val="8"/>
                <c:pt idx="0">
                  <c:v>12077.875</c:v>
                </c:pt>
                <c:pt idx="1">
                  <c:v>5122.1030000000001</c:v>
                </c:pt>
                <c:pt idx="2">
                  <c:v>4141</c:v>
                </c:pt>
                <c:pt idx="3">
                  <c:v>3307</c:v>
                </c:pt>
                <c:pt idx="4">
                  <c:v>2501.12</c:v>
                </c:pt>
                <c:pt idx="5">
                  <c:v>1651.1289999999999</c:v>
                </c:pt>
                <c:pt idx="6">
                  <c:v>1590.9880000000001</c:v>
                </c:pt>
                <c:pt idx="7">
                  <c:v>1267.7660000000001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F6-394E-AB61-655F5813B898}"/>
            </c:ext>
          </c:extLst>
        </c:ser>
        <c:ser>
          <c:idx val="1"/>
          <c:order val="1"/>
          <c:tx>
            <c:strRef>
              <c:f>催收效果图!$C$1</c:f>
              <c:strCache>
                <c:ptCount val="1"/>
                <c:pt idx="0">
                  <c:v>优化后耗时（s）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_);[Red]\(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ED7D3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催收效果图!$A$2:$A$9</c:f>
              <c:strCache>
                <c:ptCount val="8"/>
                <c:pt idx="0">
                  <c:v>11_agent_process_tt</c:v>
                </c:pt>
                <c:pt idx="1">
                  <c:v>phl_fin_01</c:v>
                </c:pt>
                <c:pt idx="2">
                  <c:v>01_eoc_debt</c:v>
                </c:pt>
                <c:pt idx="3">
                  <c:v>09_eoc_tt_sum_temp</c:v>
                </c:pt>
                <c:pt idx="4">
                  <c:v>09_eoc_lazada_sum</c:v>
                </c:pt>
                <c:pt idx="5">
                  <c:v>CL_phl_fin_01</c:v>
                </c:pt>
                <c:pt idx="6">
                  <c:v>Lazada_phl_fin_01</c:v>
                </c:pt>
                <c:pt idx="7">
                  <c:v>phl_fin_01</c:v>
                </c:pt>
              </c:strCache>
            </c:strRef>
          </c:cat>
          <c:val>
            <c:numRef>
              <c:f>催收效果图!$C$2:$C$9</c:f>
              <c:numCache>
                <c:formatCode>General</c:formatCode>
                <c:ptCount val="8"/>
                <c:pt idx="0">
                  <c:v>1349.835</c:v>
                </c:pt>
                <c:pt idx="1">
                  <c:v>98.004000000000005</c:v>
                </c:pt>
                <c:pt idx="2">
                  <c:v>1316</c:v>
                </c:pt>
                <c:pt idx="3">
                  <c:v>409</c:v>
                </c:pt>
                <c:pt idx="4">
                  <c:v>1738.9090000000001</c:v>
                </c:pt>
                <c:pt idx="5">
                  <c:v>99.131</c:v>
                </c:pt>
                <c:pt idx="6">
                  <c:v>91.688000000000002</c:v>
                </c:pt>
                <c:pt idx="7">
                  <c:v>80.254999999999995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F6-394E-AB61-655F5813B8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839234112"/>
        <c:axId val="839235792"/>
      </c:barChart>
      <c:catAx>
        <c:axId val="839234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pPr>
            <a:endParaRPr lang="zh-CN"/>
          </a:p>
        </c:txPr>
        <c:crossAx val="839235792"/>
        <c:crosses val="autoZero"/>
        <c:auto val="1"/>
        <c:lblAlgn val="ctr"/>
        <c:lblOffset val="100"/>
        <c:noMultiLvlLbl val="0"/>
      </c:catAx>
      <c:valAx>
        <c:axId val="8392357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9234112"/>
        <c:crosses val="autoZero"/>
        <c:crossBetween val="between"/>
      </c:valAx>
      <c:spPr>
        <a:noFill/>
        <a:ln>
          <a:solidFill>
            <a:sysClr val="window" lastClr="FFFFFF">
              <a:lumMod val="85000"/>
            </a:sysClr>
          </a:solidFill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" lastClr="FFFFFF">
          <a:lumMod val="95000"/>
        </a:sysClr>
      </a:solidFill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r>
              <a:rPr lang="zh-CN" altLang="en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资源</a:t>
            </a:r>
            <a:r>
              <a:rPr lang="zh-CN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优化效果</a:t>
            </a:r>
            <a:endParaRPr lang="en" altLang="zh-CN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优化前 CPU（Core*Min）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_);[Red]\(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Sheet3!$A$2:$A$9</c:f>
              <c:strCache>
                <c:ptCount val="8"/>
                <c:pt idx="0">
                  <c:v>11_agent_process_tt</c:v>
                </c:pt>
                <c:pt idx="1">
                  <c:v>01_eoc_debt</c:v>
                </c:pt>
                <c:pt idx="2">
                  <c:v>09_eoc_lazada_sum</c:v>
                </c:pt>
                <c:pt idx="3">
                  <c:v>09_eoc_tt_sum_temp</c:v>
                </c:pt>
                <c:pt idx="4">
                  <c:v>phl_fin_01</c:v>
                </c:pt>
                <c:pt idx="5">
                  <c:v>CL_phl_fin_01</c:v>
                </c:pt>
                <c:pt idx="6">
                  <c:v>Lazada_phl_fin_01</c:v>
                </c:pt>
                <c:pt idx="7">
                  <c:v>phl_fin_01</c:v>
                </c:pt>
              </c:strCache>
            </c:strRef>
          </c:cat>
          <c:val>
            <c:numRef>
              <c:f>Sheet3!$B$2:$B$9</c:f>
              <c:numCache>
                <c:formatCode>General</c:formatCode>
                <c:ptCount val="8"/>
                <c:pt idx="0">
                  <c:v>7193.21</c:v>
                </c:pt>
                <c:pt idx="1">
                  <c:v>2108</c:v>
                </c:pt>
                <c:pt idx="2">
                  <c:v>1655.2</c:v>
                </c:pt>
                <c:pt idx="3">
                  <c:v>1092</c:v>
                </c:pt>
                <c:pt idx="4">
                  <c:v>997.65</c:v>
                </c:pt>
                <c:pt idx="5">
                  <c:v>892.32</c:v>
                </c:pt>
                <c:pt idx="6">
                  <c:v>822.39</c:v>
                </c:pt>
                <c:pt idx="7">
                  <c:v>777.5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08-9F41-91F9-1D0AC0976273}"/>
            </c:ext>
          </c:extLst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优化后 CPU（Core*Min）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_);[Red]\(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Sheet3!$A$2:$A$9</c:f>
              <c:strCache>
                <c:ptCount val="8"/>
                <c:pt idx="0">
                  <c:v>11_agent_process_tt</c:v>
                </c:pt>
                <c:pt idx="1">
                  <c:v>01_eoc_debt</c:v>
                </c:pt>
                <c:pt idx="2">
                  <c:v>09_eoc_lazada_sum</c:v>
                </c:pt>
                <c:pt idx="3">
                  <c:v>09_eoc_tt_sum_temp</c:v>
                </c:pt>
                <c:pt idx="4">
                  <c:v>phl_fin_01</c:v>
                </c:pt>
                <c:pt idx="5">
                  <c:v>CL_phl_fin_01</c:v>
                </c:pt>
                <c:pt idx="6">
                  <c:v>Lazada_phl_fin_01</c:v>
                </c:pt>
                <c:pt idx="7">
                  <c:v>phl_fin_01</c:v>
                </c:pt>
              </c:strCache>
            </c:strRef>
          </c:cat>
          <c:val>
            <c:numRef>
              <c:f>Sheet3!$C$2:$C$9</c:f>
              <c:numCache>
                <c:formatCode>General</c:formatCode>
                <c:ptCount val="8"/>
                <c:pt idx="0">
                  <c:v>82.61</c:v>
                </c:pt>
                <c:pt idx="1">
                  <c:v>1070</c:v>
                </c:pt>
                <c:pt idx="2">
                  <c:v>72.59</c:v>
                </c:pt>
                <c:pt idx="3">
                  <c:v>258</c:v>
                </c:pt>
                <c:pt idx="4">
                  <c:v>70.44</c:v>
                </c:pt>
                <c:pt idx="5">
                  <c:v>60.91</c:v>
                </c:pt>
                <c:pt idx="6">
                  <c:v>43.34</c:v>
                </c:pt>
                <c:pt idx="7">
                  <c:v>68.67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08-9F41-91F9-1D0AC09762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935961984"/>
        <c:axId val="875654224"/>
      </c:barChart>
      <c:catAx>
        <c:axId val="935961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875654224"/>
        <c:crosses val="autoZero"/>
        <c:auto val="1"/>
        <c:lblAlgn val="ctr"/>
        <c:lblOffset val="100"/>
        <c:noMultiLvlLbl val="0"/>
      </c:catAx>
      <c:valAx>
        <c:axId val="8756542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35961984"/>
        <c:crosses val="autoZero"/>
        <c:crossBetween val="between"/>
      </c:valAx>
      <c:spPr>
        <a:noFill/>
        <a:ln>
          <a:solidFill>
            <a:sysClr val="window" lastClr="FFFFFF">
              <a:lumMod val="95000"/>
            </a:sysClr>
          </a:solidFill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" lastClr="FFFFFF">
          <a:lumMod val="95000"/>
        </a:sysClr>
      </a:solidFill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80B1E-7B74-AA42-9A48-32ADD186F444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B26EE-078D-D64A-90E5-F07FE55492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359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1307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066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全业务线</a:t>
            </a:r>
            <a:r>
              <a:rPr lang="en-US" altLang="zh-CN" dirty="0"/>
              <a:t>8</a:t>
            </a:r>
            <a:r>
              <a:rPr lang="zh-CN" altLang="en-US" dirty="0"/>
              <a:t>月达成率</a:t>
            </a:r>
            <a:r>
              <a:rPr lang="en-US" altLang="zh-CN" dirty="0"/>
              <a:t>92.6%</a:t>
            </a:r>
            <a:r>
              <a:rPr lang="zh-CN" altLang="en-US" dirty="0"/>
              <a:t>（ </a:t>
            </a:r>
            <a:r>
              <a:rPr lang="en-US" altLang="zh-CN" dirty="0"/>
              <a:t>$41,998,619 </a:t>
            </a:r>
            <a:r>
              <a:rPr lang="zh-CN" altLang="en-US" dirty="0"/>
              <a:t>），</a:t>
            </a:r>
            <a:r>
              <a:rPr lang="en-US" altLang="zh-CN" dirty="0"/>
              <a:t>YTD</a:t>
            </a:r>
            <a:r>
              <a:rPr lang="zh-CN" altLang="en-US" dirty="0"/>
              <a:t>达成率</a:t>
            </a:r>
            <a:r>
              <a:rPr lang="en-US" altLang="zh-CN" dirty="0"/>
              <a:t>97.5%</a:t>
            </a:r>
            <a:r>
              <a:rPr lang="zh-CN" altLang="en-US" dirty="0"/>
              <a:t>（ </a:t>
            </a:r>
            <a:r>
              <a:rPr lang="en-US" altLang="zh-CN" dirty="0"/>
              <a:t>$253,628,640</a:t>
            </a:r>
            <a:r>
              <a:rPr lang="zh-CN" altLang="en-US" dirty="0"/>
              <a:t>）；待还达成率</a:t>
            </a:r>
            <a:r>
              <a:rPr lang="en-US" altLang="zh-CN" dirty="0"/>
              <a:t>90.9%</a:t>
            </a:r>
            <a:r>
              <a:rPr lang="zh-CN" altLang="en-US" dirty="0"/>
              <a:t>（ </a:t>
            </a:r>
            <a:r>
              <a:rPr lang="en-US" altLang="zh-CN" dirty="0"/>
              <a:t>$63,133,615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8819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全业务线</a:t>
            </a:r>
            <a:r>
              <a:rPr lang="en-US" altLang="zh-CN" dirty="0"/>
              <a:t>8</a:t>
            </a:r>
            <a:r>
              <a:rPr lang="zh-CN" altLang="en-US" dirty="0"/>
              <a:t>月达成率</a:t>
            </a:r>
            <a:r>
              <a:rPr lang="en-US" altLang="zh-CN" dirty="0"/>
              <a:t>92.6%</a:t>
            </a:r>
            <a:r>
              <a:rPr lang="zh-CN" altLang="en-US" dirty="0"/>
              <a:t>（ </a:t>
            </a:r>
            <a:r>
              <a:rPr lang="en-US" altLang="zh-CN" dirty="0"/>
              <a:t>$41,998,619 </a:t>
            </a:r>
            <a:r>
              <a:rPr lang="zh-CN" altLang="en-US" dirty="0"/>
              <a:t>），</a:t>
            </a:r>
            <a:r>
              <a:rPr lang="en-US" altLang="zh-CN" dirty="0"/>
              <a:t>YTD</a:t>
            </a:r>
            <a:r>
              <a:rPr lang="zh-CN" altLang="en-US" dirty="0"/>
              <a:t>达成率</a:t>
            </a:r>
            <a:r>
              <a:rPr lang="en-US" altLang="zh-CN" dirty="0"/>
              <a:t>97.5%</a:t>
            </a:r>
            <a:r>
              <a:rPr lang="zh-CN" altLang="en-US" dirty="0"/>
              <a:t>（ </a:t>
            </a:r>
            <a:r>
              <a:rPr lang="en-US" altLang="zh-CN" dirty="0"/>
              <a:t>$253,628,640</a:t>
            </a:r>
            <a:r>
              <a:rPr lang="zh-CN" altLang="en-US" dirty="0"/>
              <a:t>）；待还达成率</a:t>
            </a:r>
            <a:r>
              <a:rPr lang="en-US" altLang="zh-CN" dirty="0"/>
              <a:t>90.9%</a:t>
            </a:r>
            <a:r>
              <a:rPr lang="zh-CN" altLang="en-US" dirty="0"/>
              <a:t>（ </a:t>
            </a:r>
            <a:r>
              <a:rPr lang="en-US" altLang="zh-CN" dirty="0"/>
              <a:t>$63,133,615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3734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全业务线</a:t>
            </a:r>
            <a:r>
              <a:rPr lang="en-US" altLang="zh-CN" dirty="0"/>
              <a:t>8</a:t>
            </a:r>
            <a:r>
              <a:rPr lang="zh-CN" altLang="en-US" dirty="0"/>
              <a:t>月达成率</a:t>
            </a:r>
            <a:r>
              <a:rPr lang="en-US" altLang="zh-CN" dirty="0"/>
              <a:t>92.6%</a:t>
            </a:r>
            <a:r>
              <a:rPr lang="zh-CN" altLang="en-US" dirty="0"/>
              <a:t>（ </a:t>
            </a:r>
            <a:r>
              <a:rPr lang="en-US" altLang="zh-CN" dirty="0"/>
              <a:t>$41,998,619 </a:t>
            </a:r>
            <a:r>
              <a:rPr lang="zh-CN" altLang="en-US" dirty="0"/>
              <a:t>），</a:t>
            </a:r>
            <a:r>
              <a:rPr lang="en-US" altLang="zh-CN" dirty="0"/>
              <a:t>YTD</a:t>
            </a:r>
            <a:r>
              <a:rPr lang="zh-CN" altLang="en-US" dirty="0"/>
              <a:t>达成率</a:t>
            </a:r>
            <a:r>
              <a:rPr lang="en-US" altLang="zh-CN" dirty="0"/>
              <a:t>97.5%</a:t>
            </a:r>
            <a:r>
              <a:rPr lang="zh-CN" altLang="en-US" dirty="0"/>
              <a:t>（ </a:t>
            </a:r>
            <a:r>
              <a:rPr lang="en-US" altLang="zh-CN" dirty="0"/>
              <a:t>$253,628,640</a:t>
            </a:r>
            <a:r>
              <a:rPr lang="zh-CN" altLang="en-US" dirty="0"/>
              <a:t>）；待还达成率</a:t>
            </a:r>
            <a:r>
              <a:rPr lang="en-US" altLang="zh-CN" dirty="0"/>
              <a:t>90.9%</a:t>
            </a:r>
            <a:r>
              <a:rPr lang="zh-CN" altLang="en-US" dirty="0"/>
              <a:t>（ </a:t>
            </a:r>
            <a:r>
              <a:rPr lang="en-US" altLang="zh-CN" dirty="0"/>
              <a:t>$63,133,615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518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全业务线</a:t>
            </a:r>
            <a:r>
              <a:rPr lang="en-US" altLang="zh-CN" dirty="0"/>
              <a:t>8</a:t>
            </a:r>
            <a:r>
              <a:rPr lang="zh-CN" altLang="en-US" dirty="0"/>
              <a:t>月达成率</a:t>
            </a:r>
            <a:r>
              <a:rPr lang="en-US" altLang="zh-CN" dirty="0"/>
              <a:t>92.6%</a:t>
            </a:r>
            <a:r>
              <a:rPr lang="zh-CN" altLang="en-US" dirty="0"/>
              <a:t>（ </a:t>
            </a:r>
            <a:r>
              <a:rPr lang="en-US" altLang="zh-CN" dirty="0"/>
              <a:t>$41,998,619 </a:t>
            </a:r>
            <a:r>
              <a:rPr lang="zh-CN" altLang="en-US" dirty="0"/>
              <a:t>），</a:t>
            </a:r>
            <a:r>
              <a:rPr lang="en-US" altLang="zh-CN" dirty="0"/>
              <a:t>YTD</a:t>
            </a:r>
            <a:r>
              <a:rPr lang="zh-CN" altLang="en-US" dirty="0"/>
              <a:t>达成率</a:t>
            </a:r>
            <a:r>
              <a:rPr lang="en-US" altLang="zh-CN" dirty="0"/>
              <a:t>97.5%</a:t>
            </a:r>
            <a:r>
              <a:rPr lang="zh-CN" altLang="en-US" dirty="0"/>
              <a:t>（ </a:t>
            </a:r>
            <a:r>
              <a:rPr lang="en-US" altLang="zh-CN" dirty="0"/>
              <a:t>$253,628,640</a:t>
            </a:r>
            <a:r>
              <a:rPr lang="zh-CN" altLang="en-US" dirty="0"/>
              <a:t>）；待还达成率</a:t>
            </a:r>
            <a:r>
              <a:rPr lang="en-US" altLang="zh-CN" dirty="0"/>
              <a:t>90.9%</a:t>
            </a:r>
            <a:r>
              <a:rPr lang="zh-CN" altLang="en-US" dirty="0"/>
              <a:t>（ </a:t>
            </a:r>
            <a:r>
              <a:rPr lang="en-US" altLang="zh-CN" dirty="0"/>
              <a:t>$63,133,615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2420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全业务线</a:t>
            </a:r>
            <a:r>
              <a:rPr lang="en-US" altLang="zh-CN" dirty="0"/>
              <a:t>8</a:t>
            </a:r>
            <a:r>
              <a:rPr lang="zh-CN" altLang="en-US" dirty="0"/>
              <a:t>月达成率</a:t>
            </a:r>
            <a:r>
              <a:rPr lang="en-US" altLang="zh-CN" dirty="0"/>
              <a:t>92.6%</a:t>
            </a:r>
            <a:r>
              <a:rPr lang="zh-CN" altLang="en-US" dirty="0"/>
              <a:t>（ </a:t>
            </a:r>
            <a:r>
              <a:rPr lang="en-US" altLang="zh-CN" dirty="0"/>
              <a:t>$41,998,619 </a:t>
            </a:r>
            <a:r>
              <a:rPr lang="zh-CN" altLang="en-US" dirty="0"/>
              <a:t>），</a:t>
            </a:r>
            <a:r>
              <a:rPr lang="en-US" altLang="zh-CN" dirty="0"/>
              <a:t>YTD</a:t>
            </a:r>
            <a:r>
              <a:rPr lang="zh-CN" altLang="en-US" dirty="0"/>
              <a:t>达成率</a:t>
            </a:r>
            <a:r>
              <a:rPr lang="en-US" altLang="zh-CN" dirty="0"/>
              <a:t>97.5%</a:t>
            </a:r>
            <a:r>
              <a:rPr lang="zh-CN" altLang="en-US" dirty="0"/>
              <a:t>（ </a:t>
            </a:r>
            <a:r>
              <a:rPr lang="en-US" altLang="zh-CN" dirty="0"/>
              <a:t>$253,628,640</a:t>
            </a:r>
            <a:r>
              <a:rPr lang="zh-CN" altLang="en-US" dirty="0"/>
              <a:t>）；待还达成率</a:t>
            </a:r>
            <a:r>
              <a:rPr lang="en-US" altLang="zh-CN" dirty="0"/>
              <a:t>90.9%</a:t>
            </a:r>
            <a:r>
              <a:rPr lang="zh-CN" altLang="en-US" dirty="0"/>
              <a:t>（ </a:t>
            </a:r>
            <a:r>
              <a:rPr lang="en-US" altLang="zh-CN" dirty="0"/>
              <a:t>$63,133,615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03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9828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6515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全业务线</a:t>
            </a:r>
            <a:r>
              <a:rPr lang="en-US" altLang="zh-CN" dirty="0"/>
              <a:t>8</a:t>
            </a:r>
            <a:r>
              <a:rPr lang="zh-CN" altLang="en-US" dirty="0"/>
              <a:t>月达成率</a:t>
            </a:r>
            <a:r>
              <a:rPr lang="en-US" altLang="zh-CN" dirty="0"/>
              <a:t>92.6%</a:t>
            </a:r>
            <a:r>
              <a:rPr lang="zh-CN" altLang="en-US" dirty="0"/>
              <a:t>（ </a:t>
            </a:r>
            <a:r>
              <a:rPr lang="en-US" altLang="zh-CN" dirty="0"/>
              <a:t>$41,998,619 </a:t>
            </a:r>
            <a:r>
              <a:rPr lang="zh-CN" altLang="en-US" dirty="0"/>
              <a:t>），</a:t>
            </a:r>
            <a:r>
              <a:rPr lang="en-US" altLang="zh-CN" dirty="0"/>
              <a:t>YTD</a:t>
            </a:r>
            <a:r>
              <a:rPr lang="zh-CN" altLang="en-US" dirty="0"/>
              <a:t>达成率</a:t>
            </a:r>
            <a:r>
              <a:rPr lang="en-US" altLang="zh-CN" dirty="0"/>
              <a:t>97.5%</a:t>
            </a:r>
            <a:r>
              <a:rPr lang="zh-CN" altLang="en-US" dirty="0"/>
              <a:t>（ </a:t>
            </a:r>
            <a:r>
              <a:rPr lang="en-US" altLang="zh-CN" dirty="0"/>
              <a:t>$253,628,640</a:t>
            </a:r>
            <a:r>
              <a:rPr lang="zh-CN" altLang="en-US" dirty="0"/>
              <a:t>）；待还达成率</a:t>
            </a:r>
            <a:r>
              <a:rPr lang="en-US" altLang="zh-CN" dirty="0"/>
              <a:t>90.9%</a:t>
            </a:r>
            <a:r>
              <a:rPr lang="zh-CN" altLang="en-US" dirty="0"/>
              <a:t>（ </a:t>
            </a:r>
            <a:r>
              <a:rPr lang="en-US" altLang="zh-CN" dirty="0"/>
              <a:t>$63,133,615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1164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6608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561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全业务线</a:t>
            </a:r>
            <a:r>
              <a:rPr lang="en-US" altLang="zh-CN" dirty="0"/>
              <a:t>8</a:t>
            </a:r>
            <a:r>
              <a:rPr lang="zh-CN" altLang="en-US" dirty="0"/>
              <a:t>月达成率</a:t>
            </a:r>
            <a:r>
              <a:rPr lang="en-US" altLang="zh-CN" dirty="0"/>
              <a:t>92.6%</a:t>
            </a:r>
            <a:r>
              <a:rPr lang="zh-CN" altLang="en-US" dirty="0"/>
              <a:t>（ </a:t>
            </a:r>
            <a:r>
              <a:rPr lang="en-US" altLang="zh-CN" dirty="0"/>
              <a:t>$41,998,619 </a:t>
            </a:r>
            <a:r>
              <a:rPr lang="zh-CN" altLang="en-US" dirty="0"/>
              <a:t>），</a:t>
            </a:r>
            <a:r>
              <a:rPr lang="en-US" altLang="zh-CN" dirty="0"/>
              <a:t>YTD</a:t>
            </a:r>
            <a:r>
              <a:rPr lang="zh-CN" altLang="en-US" dirty="0"/>
              <a:t>达成率</a:t>
            </a:r>
            <a:r>
              <a:rPr lang="en-US" altLang="zh-CN" dirty="0"/>
              <a:t>97.5%</a:t>
            </a:r>
            <a:r>
              <a:rPr lang="zh-CN" altLang="en-US" dirty="0"/>
              <a:t>（ </a:t>
            </a:r>
            <a:r>
              <a:rPr lang="en-US" altLang="zh-CN" dirty="0"/>
              <a:t>$253,628,640</a:t>
            </a:r>
            <a:r>
              <a:rPr lang="zh-CN" altLang="en-US" dirty="0"/>
              <a:t>）；待还达成率</a:t>
            </a:r>
            <a:r>
              <a:rPr lang="en-US" altLang="zh-CN" dirty="0"/>
              <a:t>90.9%</a:t>
            </a:r>
            <a:r>
              <a:rPr lang="zh-CN" altLang="en-US" dirty="0"/>
              <a:t>（ </a:t>
            </a:r>
            <a:r>
              <a:rPr lang="en-US" altLang="zh-CN" dirty="0"/>
              <a:t>$63,133,615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26EE-078D-D64A-90E5-F07FE554926D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459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5B26EE-078D-D64A-90E5-F07FE55492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2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5B26EE-078D-D64A-90E5-F07FE55492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763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5B26EE-078D-D64A-90E5-F07FE55492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0592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5B26EE-078D-D64A-90E5-F07FE55492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203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5B26EE-078D-D64A-90E5-F07FE554926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15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95314-7F36-E44A-472B-AA04EFAB8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246B77-A00D-4CF6-6F98-E190DC763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69430-694E-830E-2EF6-3A3DFD3A9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70E8C-6B81-85D8-EDF6-68EE3C1AD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996E03-14ED-64DC-AE37-74774D3B7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981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D7E6F-0830-6029-A897-67CBA107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6EB7E-E697-3206-0B91-21007C108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296A01-FF74-80A9-12DC-DD3B9D279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161210-3370-A6D3-243F-375B95938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C75045-BB86-8FCC-9B5D-33B1DF5D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010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C420C-0DD9-B2B5-2216-5FB0A304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CC4981-2021-DB44-ACE7-B7A2772EE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188127-F0B1-4008-9F4C-A79293E7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2B015-9063-09E2-9CE8-6AB1F4D8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FA22D-39E9-7C2A-3692-F5735FA8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924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36552-C331-015A-2748-9CDDC59E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EFCCAF-BFB1-1B58-7666-1AE91B358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AE69C6-0080-4957-CC5D-3B6DF3EA1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F47918-1985-B7AD-FCBA-1BFCB7706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271CCC-CCD0-16E0-ABE8-21716579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3A8577-B6D1-2E82-E13A-8B8F11C3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826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BA66C-513E-04A1-D86E-AC7F45C50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D1C6B4-F64F-7B62-2B6B-372AA61FF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6D476C-1C2A-F91B-EFD3-1A60B3C9C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C4D853-7A69-BD48-EAA6-8C64BBD09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A33B27-1640-7821-D6A6-02CB3859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0FF00C-76DD-2219-8D8C-9EA246C45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11998F-9CA6-685A-3112-7A49E58BC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9385FA-0930-6532-1BCA-F73337D3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455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6F6E0E-00E8-FB7A-F1FE-98332204C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7A562F-53B2-0274-F08B-2D3DC0DD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55811F-A496-3431-5E67-33A82152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192C29-24D0-BDF0-3DCB-1AF31C79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065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A8B927-5D2F-4CDC-005C-119E8A26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456504-DC85-7F67-E77B-851042BC6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53BD87-C28E-2909-ED9B-22CBCAE5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6949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E7F5D-C9D4-2BF8-DC13-5B9C9B58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475B4B-0736-72DC-FDDE-70AF57366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FED19F-C6FD-EAD0-3A3F-13B9FB35F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BB4414-7976-022E-639B-7ADA6B9F4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0EECDF-EED7-629B-BBFA-380D039C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0A6EB3-9F86-940E-01D0-FB78472C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516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E9085-A758-7C1F-E98A-B123913C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0AFA22C-5542-52E3-C533-AA61258B7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20E593-36FF-F73A-C5BE-77D81821A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F4609E-3F74-38C8-6E1E-69C8175F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00957F-B99F-4000-31C1-34F1E203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BA2EE6-1D43-CC09-571B-E755439D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933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4152A6-4B7E-256C-7A97-40A897D8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F91DEB-8F5C-8A96-9677-C8D30B34D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777280-2034-64BE-45FB-E326DCF3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573F8F-908B-A481-77C2-DE75201C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8815CF-80BD-546F-F370-95CCE8E1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741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46F736-48B9-8719-43C4-EE367D3B1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D6E056-B78F-038D-3BB0-7DD8BF1F2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F5027-AC20-F239-1EFF-8869D03F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AB7832-BBD3-4F06-835F-443EED06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BDE340-FA2D-375D-E1DD-03AB0207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911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F0035BB-13E8-41B7-8F6B-0B5ACFBBD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24">
            <a:extLst>
              <a:ext uri="{FF2B5EF4-FFF2-40B4-BE49-F238E27FC236}">
                <a16:creationId xmlns:a16="http://schemas.microsoft.com/office/drawing/2014/main" id="{A18CBFDF-9913-8740-B20A-031BDF4EFBD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>
              <a:lumMod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FB85639E-974A-634B-AE71-944B14DC0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720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AE4FE8-BFFB-9240-900E-9CB11F520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7958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24CC8B20-98CE-DA4F-B8AF-4312307E31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390" y="5895233"/>
            <a:ext cx="7553198" cy="35661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lang="zh-CN" altLang="en-US" sz="1800" kern="120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微软雅黑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微软雅黑"/>
              <a:sym typeface="Arial" panose="020B0604020202020204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0864B8A-C5DD-824F-A218-C2EFF14FAF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5514" y="36256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27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21"/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12192000" cy="411299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bg1">
                <a:lumMod val="75000"/>
              </a:schemeClr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ru-RU" sz="400" dirty="0"/>
            </a:lvl1pPr>
          </a:lstStyle>
          <a:p>
            <a:pPr lvl="0" algn="ctr"/>
            <a:endParaRPr lang="ru-RU" dirty="0"/>
          </a:p>
        </p:txBody>
      </p:sp>
      <p:sp>
        <p:nvSpPr>
          <p:cNvPr id="5" name="Текст 3"/>
          <p:cNvSpPr>
            <a:spLocks noGrp="1"/>
          </p:cNvSpPr>
          <p:nvPr>
            <p:ph type="body" sz="quarter" idx="39" hasCustomPrompt="1"/>
          </p:nvPr>
        </p:nvSpPr>
        <p:spPr>
          <a:xfrm>
            <a:off x="1057984" y="4760994"/>
            <a:ext cx="2121882" cy="1219829"/>
          </a:xfrm>
          <a:prstGeom prst="rect">
            <a:avLst/>
          </a:prstGeom>
        </p:spPr>
        <p:txBody>
          <a:bodyPr/>
          <a:lstStyle>
            <a:lvl1pPr algn="l">
              <a:defRPr lang="en-US" sz="1100" b="0" i="0" baseline="0" dirty="0">
                <a:solidFill>
                  <a:schemeClr val="tx2"/>
                </a:solidFill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Example text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57984" y="2205006"/>
            <a:ext cx="3957967" cy="133199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01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498" algn="l"/>
              </a:tabLst>
              <a:defRPr sz="3299" b="1" i="0" baseline="0">
                <a:solidFill>
                  <a:schemeClr val="bg2"/>
                </a:solidFill>
                <a:latin typeface="Roboto Black" charset="0"/>
                <a:ea typeface="Roboto Black" charset="0"/>
                <a:cs typeface="Roboto Black" charset="0"/>
              </a:defRPr>
            </a:lvl1pPr>
          </a:lstStyle>
          <a:p>
            <a:r>
              <a:rPr lang="en-US" dirty="0"/>
              <a:t>NAME OF YOUR </a:t>
            </a:r>
            <a:br>
              <a:rPr lang="en-US" dirty="0"/>
            </a:br>
            <a:r>
              <a:rPr lang="en-US" dirty="0"/>
              <a:t>TOP SLIDE</a:t>
            </a:r>
            <a:endParaRPr lang="ru-RU" dirty="0"/>
          </a:p>
        </p:txBody>
      </p:sp>
      <p:sp>
        <p:nvSpPr>
          <p:cNvPr id="8" name="Текст 3"/>
          <p:cNvSpPr>
            <a:spLocks noGrp="1"/>
          </p:cNvSpPr>
          <p:nvPr>
            <p:ph type="body" sz="quarter" idx="40" hasCustomPrompt="1"/>
          </p:nvPr>
        </p:nvSpPr>
        <p:spPr>
          <a:xfrm>
            <a:off x="3672627" y="4760994"/>
            <a:ext cx="2121882" cy="1219829"/>
          </a:xfrm>
          <a:prstGeom prst="rect">
            <a:avLst/>
          </a:prstGeom>
        </p:spPr>
        <p:txBody>
          <a:bodyPr/>
          <a:lstStyle>
            <a:lvl1pPr algn="l">
              <a:defRPr lang="en-US" sz="1100" b="0" i="0" baseline="0" dirty="0">
                <a:solidFill>
                  <a:schemeClr val="tx2"/>
                </a:solidFill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Example text</a:t>
            </a:r>
          </a:p>
        </p:txBody>
      </p:sp>
      <p:sp>
        <p:nvSpPr>
          <p:cNvPr id="11" name="Текст 3"/>
          <p:cNvSpPr>
            <a:spLocks noGrp="1"/>
          </p:cNvSpPr>
          <p:nvPr>
            <p:ph type="body" sz="quarter" idx="41" hasCustomPrompt="1"/>
          </p:nvPr>
        </p:nvSpPr>
        <p:spPr>
          <a:xfrm>
            <a:off x="6287270" y="4760994"/>
            <a:ext cx="2121882" cy="1219829"/>
          </a:xfrm>
          <a:prstGeom prst="rect">
            <a:avLst/>
          </a:prstGeom>
        </p:spPr>
        <p:txBody>
          <a:bodyPr/>
          <a:lstStyle>
            <a:lvl1pPr algn="l">
              <a:defRPr lang="en-US" sz="1100" b="0" i="0" baseline="0" dirty="0">
                <a:solidFill>
                  <a:schemeClr val="tx2"/>
                </a:solidFill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Example text</a:t>
            </a:r>
          </a:p>
        </p:txBody>
      </p:sp>
      <p:sp>
        <p:nvSpPr>
          <p:cNvPr id="12" name="Текст 3"/>
          <p:cNvSpPr>
            <a:spLocks noGrp="1"/>
          </p:cNvSpPr>
          <p:nvPr>
            <p:ph type="body" sz="quarter" idx="42" hasCustomPrompt="1"/>
          </p:nvPr>
        </p:nvSpPr>
        <p:spPr>
          <a:xfrm>
            <a:off x="8901914" y="4760994"/>
            <a:ext cx="2121882" cy="1219829"/>
          </a:xfrm>
          <a:prstGeom prst="rect">
            <a:avLst/>
          </a:prstGeom>
        </p:spPr>
        <p:txBody>
          <a:bodyPr/>
          <a:lstStyle>
            <a:lvl1pPr algn="l">
              <a:defRPr lang="en-US" sz="1100" b="0" i="0" baseline="0" dirty="0">
                <a:solidFill>
                  <a:schemeClr val="tx2"/>
                </a:solidFill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Example text</a:t>
            </a:r>
          </a:p>
        </p:txBody>
      </p:sp>
    </p:spTree>
    <p:extLst>
      <p:ext uri="{BB962C8B-B14F-4D97-AF65-F5344CB8AC3E}">
        <p14:creationId xmlns:p14="http://schemas.microsoft.com/office/powerpoint/2010/main" val="347880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77D008-7FC8-5B96-CA10-06EAA7FFA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42CEC1-C524-FE17-FFA6-7E8901302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0958D1-4735-A533-FD4D-8C176B825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DA720-3D62-7C4E-87B9-12D323421558}" type="datetimeFigureOut">
              <a:rPr kumimoji="1" lang="zh-CN" altLang="en-US" smtClean="0"/>
              <a:t>2026/2/9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EF6A17-AB80-A469-A18C-A5ECB8C3F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AB0F37-A045-7746-BA8C-9AF4A4FDE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C11DC-D656-3D43-883A-E7CB68DDB2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3177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8" name="直接连接符 23"/>
          <p:cNvCxnSpPr>
            <a:cxnSpLocks/>
          </p:cNvCxnSpPr>
          <p:nvPr/>
        </p:nvCxnSpPr>
        <p:spPr>
          <a:xfrm flipH="1">
            <a:off x="654269" y="3155725"/>
            <a:ext cx="10816109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4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000" y="360000"/>
            <a:ext cx="620757" cy="396000"/>
          </a:xfrm>
          <a:prstGeom prst="rect">
            <a:avLst/>
          </a:prstGeom>
        </p:spPr>
      </p:pic>
      <p:sp>
        <p:nvSpPr>
          <p:cNvPr id="1048585" name="标题 1"/>
          <p:cNvSpPr>
            <a:spLocks noGrp="1"/>
          </p:cNvSpPr>
          <p:nvPr>
            <p:ph type="ctrTitle" idx="4294967295"/>
          </p:nvPr>
        </p:nvSpPr>
        <p:spPr>
          <a:xfrm>
            <a:off x="575415" y="1834732"/>
            <a:ext cx="10076372" cy="960120"/>
          </a:xfrm>
        </p:spPr>
        <p:txBody>
          <a:bodyPr>
            <a:noAutofit/>
          </a:bodyPr>
          <a:lstStyle/>
          <a:p>
            <a:pPr algn="l"/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海外催收智汇数据底座</a:t>
            </a:r>
            <a:endParaRPr kumimoji="1" lang="zh-CN" altLang="en-US" sz="60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048586" name="文本框 10"/>
          <p:cNvSpPr txBox="1"/>
          <p:nvPr/>
        </p:nvSpPr>
        <p:spPr>
          <a:xfrm>
            <a:off x="-429002" y="3283076"/>
            <a:ext cx="118993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zh-CN" altLang="en-US" sz="4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结项汇报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8E0BE6-B189-471E-8485-72D9EFE2CCAA}"/>
              </a:ext>
            </a:extLst>
          </p:cNvPr>
          <p:cNvSpPr txBox="1"/>
          <p:nvPr/>
        </p:nvSpPr>
        <p:spPr>
          <a:xfrm>
            <a:off x="5525548" y="291847"/>
            <a:ext cx="114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3054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EEFCA0-0F81-4C1B-94E6-33C2AF4897D7}"/>
              </a:ext>
            </a:extLst>
          </p:cNvPr>
          <p:cNvSpPr txBox="1"/>
          <p:nvPr/>
        </p:nvSpPr>
        <p:spPr>
          <a:xfrm>
            <a:off x="496919" y="1149670"/>
            <a:ext cx="11012776" cy="510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背景：分析需求的不断增长需要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标准化、轻量化、全面化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成果：多个贷后环节数据的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全面优化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外包、协催、机器人管理的从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；风险指标、转化漏斗、过程指标、触达渠道、客户画像数据的优化；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贷后数据管理框架概览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成果展示：以全链路分析为例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从横向和纵向多环节多维度搭建贷后全链路分析框架</a:t>
            </a: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以过程数据为例，展示设计思路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方法：标准化的贷后数据模型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新版贷后数据模型概览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以协催数据为例，展示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926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-3545"/>
            <a:ext cx="12192000" cy="720359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11942092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1.1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项目背景：分析需求的不断增长需要标准化、轻量化、全面化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68B824-F8B2-48DE-9A31-2F511E0AAADD}"/>
              </a:ext>
            </a:extLst>
          </p:cNvPr>
          <p:cNvSpPr txBox="1"/>
          <p:nvPr/>
        </p:nvSpPr>
        <p:spPr>
          <a:xfrm>
            <a:off x="344371" y="1760690"/>
            <a:ext cx="5162919" cy="38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问题</a:t>
            </a:r>
            <a:r>
              <a:rPr lang="en-US" altLang="zh-CN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：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催收业务快速增长，原数据体系无法支持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新的业务场景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 e.g.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协催、机器人和外包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难以全面、真实回答全业务运行状态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e.g.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话务、触达渠道等基础功能数据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无法打通不同颗粒度的数据进行分析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e.g.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可联率交叉客户维度属性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日常运维消耗大，临时跑数缓慢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B381D8-8103-4451-831C-7684AECE36F0}"/>
              </a:ext>
            </a:extLst>
          </p:cNvPr>
          <p:cNvSpPr txBox="1"/>
          <p:nvPr/>
        </p:nvSpPr>
        <p:spPr>
          <a:xfrm>
            <a:off x="6760063" y="1306720"/>
            <a:ext cx="5162919" cy="4737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数据底座标准化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建立新版贷后数据模型，降低复杂性的同时降低维护难度、增强可复用性，能够应对未来业务场景的增加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数据生产负担轻量化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数据基建消耗资源下降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策略生产更加便利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数据诊断能力全面化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打通贷后各环节，实现全链路风险管理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实现数据驱动各业务模块管理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2DE290B7-F386-49A7-866D-D65A42DD9824}"/>
              </a:ext>
            </a:extLst>
          </p:cNvPr>
          <p:cNvSpPr/>
          <p:nvPr/>
        </p:nvSpPr>
        <p:spPr>
          <a:xfrm>
            <a:off x="5785017" y="3110023"/>
            <a:ext cx="659219" cy="637954"/>
          </a:xfrm>
          <a:prstGeom prst="rightArrow">
            <a:avLst/>
          </a:prstGeom>
          <a:solidFill>
            <a:srgbClr val="3054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19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-3545"/>
            <a:ext cx="12192000" cy="720359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11942092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1.2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成员介绍</a:t>
            </a:r>
          </a:p>
        </p:txBody>
      </p:sp>
    </p:spTree>
    <p:extLst>
      <p:ext uri="{BB962C8B-B14F-4D97-AF65-F5344CB8AC3E}">
        <p14:creationId xmlns:p14="http://schemas.microsoft.com/office/powerpoint/2010/main" val="1035168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-3545"/>
            <a:ext cx="12192000" cy="720359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11942092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1.3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项目截止目前已经</a:t>
            </a: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100%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完成标准化、轻量化和全面化的目标</a:t>
            </a:r>
          </a:p>
        </p:txBody>
      </p:sp>
      <p:graphicFrame>
        <p:nvGraphicFramePr>
          <p:cNvPr id="16" name="表格 2">
            <a:extLst>
              <a:ext uri="{FF2B5EF4-FFF2-40B4-BE49-F238E27FC236}">
                <a16:creationId xmlns:a16="http://schemas.microsoft.com/office/drawing/2014/main" id="{A35F46CC-6655-4DC3-B43E-E62D6F5E3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446312"/>
              </p:ext>
            </p:extLst>
          </p:nvPr>
        </p:nvGraphicFramePr>
        <p:xfrm>
          <a:off x="-640223" y="1135153"/>
          <a:ext cx="12639039" cy="4587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577">
                  <a:extLst>
                    <a:ext uri="{9D8B030D-6E8A-4147-A177-3AD203B41FA5}">
                      <a16:colId xmlns:a16="http://schemas.microsoft.com/office/drawing/2014/main" val="4213900936"/>
                    </a:ext>
                  </a:extLst>
                </a:gridCol>
                <a:gridCol w="1805577">
                  <a:extLst>
                    <a:ext uri="{9D8B030D-6E8A-4147-A177-3AD203B41FA5}">
                      <a16:colId xmlns:a16="http://schemas.microsoft.com/office/drawing/2014/main" val="1733173854"/>
                    </a:ext>
                  </a:extLst>
                </a:gridCol>
                <a:gridCol w="1805577">
                  <a:extLst>
                    <a:ext uri="{9D8B030D-6E8A-4147-A177-3AD203B41FA5}">
                      <a16:colId xmlns:a16="http://schemas.microsoft.com/office/drawing/2014/main" val="4022752174"/>
                    </a:ext>
                  </a:extLst>
                </a:gridCol>
                <a:gridCol w="1805577">
                  <a:extLst>
                    <a:ext uri="{9D8B030D-6E8A-4147-A177-3AD203B41FA5}">
                      <a16:colId xmlns:a16="http://schemas.microsoft.com/office/drawing/2014/main" val="912298696"/>
                    </a:ext>
                  </a:extLst>
                </a:gridCol>
                <a:gridCol w="1805577">
                  <a:extLst>
                    <a:ext uri="{9D8B030D-6E8A-4147-A177-3AD203B41FA5}">
                      <a16:colId xmlns:a16="http://schemas.microsoft.com/office/drawing/2014/main" val="4238121994"/>
                    </a:ext>
                  </a:extLst>
                </a:gridCol>
                <a:gridCol w="1805577">
                  <a:extLst>
                    <a:ext uri="{9D8B030D-6E8A-4147-A177-3AD203B41FA5}">
                      <a16:colId xmlns:a16="http://schemas.microsoft.com/office/drawing/2014/main" val="18844184"/>
                    </a:ext>
                  </a:extLst>
                </a:gridCol>
                <a:gridCol w="1805577">
                  <a:extLst>
                    <a:ext uri="{9D8B030D-6E8A-4147-A177-3AD203B41FA5}">
                      <a16:colId xmlns:a16="http://schemas.microsoft.com/office/drawing/2014/main" val="235939431"/>
                    </a:ext>
                  </a:extLst>
                </a:gridCol>
              </a:tblGrid>
              <a:tr h="836434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2025/01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2025/02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2025/03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2025/04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2025/05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2025/06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145841"/>
                  </a:ext>
                </a:extLst>
              </a:tr>
              <a:tr h="1020639">
                <a:tc>
                  <a:txBody>
                    <a:bodyPr/>
                    <a:lstStyle/>
                    <a:p>
                      <a:pPr algn="r"/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催收核心</a:t>
                      </a:r>
                      <a:endParaRPr lang="en-US" altLang="zh-CN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r"/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指标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B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新业务环节数据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C2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核心风险指标</a:t>
                      </a:r>
                      <a:endParaRPr lang="en-US" altLang="zh-CN" sz="16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A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5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93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渠道数据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7964"/>
                  </a:ext>
                </a:extLst>
              </a:tr>
              <a:tr h="1057753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催收数仓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B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endParaRPr lang="zh-CN" altLang="zh-CN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AED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A2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新版模型搭建完成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2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991059"/>
                  </a:ext>
                </a:extLst>
              </a:tr>
              <a:tr h="836434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数据诊断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能力建设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B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风险看板搭建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A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193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全链路风险管理框架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030889"/>
                  </a:ext>
                </a:extLst>
              </a:tr>
              <a:tr h="836434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数据驱动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业务管理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C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A2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数据驱动业务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SOP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457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28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-3545"/>
            <a:ext cx="12192000" cy="720359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11942092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1.3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项目截止目前已经</a:t>
            </a: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100%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完成标准化、轻量化和全面化的目标</a:t>
            </a:r>
          </a:p>
        </p:txBody>
      </p:sp>
      <p:graphicFrame>
        <p:nvGraphicFramePr>
          <p:cNvPr id="16" name="表格 2">
            <a:extLst>
              <a:ext uri="{FF2B5EF4-FFF2-40B4-BE49-F238E27FC236}">
                <a16:creationId xmlns:a16="http://schemas.microsoft.com/office/drawing/2014/main" id="{A35F46CC-6655-4DC3-B43E-E62D6F5E3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262210"/>
              </p:ext>
            </p:extLst>
          </p:nvPr>
        </p:nvGraphicFramePr>
        <p:xfrm>
          <a:off x="257449" y="992017"/>
          <a:ext cx="11677101" cy="5491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843">
                  <a:extLst>
                    <a:ext uri="{9D8B030D-6E8A-4147-A177-3AD203B41FA5}">
                      <a16:colId xmlns:a16="http://schemas.microsoft.com/office/drawing/2014/main" val="4213900936"/>
                    </a:ext>
                  </a:extLst>
                </a:gridCol>
                <a:gridCol w="2047200">
                  <a:extLst>
                    <a:ext uri="{9D8B030D-6E8A-4147-A177-3AD203B41FA5}">
                      <a16:colId xmlns:a16="http://schemas.microsoft.com/office/drawing/2014/main" val="1733173854"/>
                    </a:ext>
                  </a:extLst>
                </a:gridCol>
                <a:gridCol w="1418013">
                  <a:extLst>
                    <a:ext uri="{9D8B030D-6E8A-4147-A177-3AD203B41FA5}">
                      <a16:colId xmlns:a16="http://schemas.microsoft.com/office/drawing/2014/main" val="1724708986"/>
                    </a:ext>
                  </a:extLst>
                </a:gridCol>
                <a:gridCol w="1516030">
                  <a:extLst>
                    <a:ext uri="{9D8B030D-6E8A-4147-A177-3AD203B41FA5}">
                      <a16:colId xmlns:a16="http://schemas.microsoft.com/office/drawing/2014/main" val="4022752174"/>
                    </a:ext>
                  </a:extLst>
                </a:gridCol>
                <a:gridCol w="1490551">
                  <a:extLst>
                    <a:ext uri="{9D8B030D-6E8A-4147-A177-3AD203B41FA5}">
                      <a16:colId xmlns:a16="http://schemas.microsoft.com/office/drawing/2014/main" val="912298696"/>
                    </a:ext>
                  </a:extLst>
                </a:gridCol>
                <a:gridCol w="1299455">
                  <a:extLst>
                    <a:ext uri="{9D8B030D-6E8A-4147-A177-3AD203B41FA5}">
                      <a16:colId xmlns:a16="http://schemas.microsoft.com/office/drawing/2014/main" val="4238121994"/>
                    </a:ext>
                  </a:extLst>
                </a:gridCol>
                <a:gridCol w="1350414">
                  <a:extLst>
                    <a:ext uri="{9D8B030D-6E8A-4147-A177-3AD203B41FA5}">
                      <a16:colId xmlns:a16="http://schemas.microsoft.com/office/drawing/2014/main" val="18844184"/>
                    </a:ext>
                  </a:extLst>
                </a:gridCol>
                <a:gridCol w="1425595">
                  <a:extLst>
                    <a:ext uri="{9D8B030D-6E8A-4147-A177-3AD203B41FA5}">
                      <a16:colId xmlns:a16="http://schemas.microsoft.com/office/drawing/2014/main" val="235939431"/>
                    </a:ext>
                  </a:extLst>
                </a:gridCol>
              </a:tblGrid>
              <a:tr h="34937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2025/02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2025/03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2025/05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2025/06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145841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催收核心指标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风险指标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1796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r"/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协催数据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603032"/>
                  </a:ext>
                </a:extLst>
              </a:tr>
              <a:tr h="295621">
                <a:tc vMerge="1">
                  <a:txBody>
                    <a:bodyPr/>
                    <a:lstStyle/>
                    <a:p>
                      <a:pPr algn="r"/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机器人数据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008819"/>
                  </a:ext>
                </a:extLst>
              </a:tr>
              <a:tr h="295621">
                <a:tc vMerge="1">
                  <a:txBody>
                    <a:bodyPr/>
                    <a:lstStyle/>
                    <a:p>
                      <a:pPr algn="r"/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外包数据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3219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r"/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产能指标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21287"/>
                  </a:ext>
                </a:extLst>
              </a:tr>
              <a:tr h="295621">
                <a:tc vMerge="1">
                  <a:txBody>
                    <a:bodyPr/>
                    <a:lstStyle/>
                    <a:p>
                      <a:pPr algn="r"/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过程数据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766798"/>
                  </a:ext>
                </a:extLst>
              </a:tr>
              <a:tr h="29562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触达渠道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40685"/>
                  </a:ext>
                </a:extLst>
              </a:tr>
              <a:tr h="295621">
                <a:tc vMerge="1">
                  <a:txBody>
                    <a:bodyPr/>
                    <a:lstStyle/>
                    <a:p>
                      <a:pPr algn="r"/>
                      <a:endParaRPr lang="zh-CN" alt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还款渠道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84350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催收数仓模型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案件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债务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坐席关系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9910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r"/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案件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债务事实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8817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r"/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20000"/>
                        </a:lnSpc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债务还款过程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526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r"/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催收架构拉链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zh-CN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0804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数据诊断能力建设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风险看板改造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030889"/>
                  </a:ext>
                </a:extLst>
              </a:tr>
              <a:tr h="142451">
                <a:tc vMerge="1">
                  <a:txBody>
                    <a:bodyPr/>
                    <a:lstStyle/>
                    <a:p>
                      <a:pPr algn="r"/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全链路风险管理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41984"/>
                  </a:ext>
                </a:extLst>
              </a:tr>
              <a:tr h="52105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数据驱动业务管理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数据驱动业务管理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SOP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66AC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457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60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8E0BE6-B189-471E-8485-72D9EFE2CCAA}"/>
              </a:ext>
            </a:extLst>
          </p:cNvPr>
          <p:cNvSpPr txBox="1"/>
          <p:nvPr/>
        </p:nvSpPr>
        <p:spPr>
          <a:xfrm>
            <a:off x="5525548" y="291847"/>
            <a:ext cx="114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3054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EEFCA0-0F81-4C1B-94E6-33C2AF4897D7}"/>
              </a:ext>
            </a:extLst>
          </p:cNvPr>
          <p:cNvSpPr txBox="1"/>
          <p:nvPr/>
        </p:nvSpPr>
        <p:spPr>
          <a:xfrm>
            <a:off x="496919" y="1149670"/>
            <a:ext cx="11012776" cy="510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背景：分析需求的不断增长需要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标准化、轻量化、全面化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成果：多个贷后环节数据的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全面优化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多个贷后环节数据的从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以及全面优化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贷后数据管理框架概览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成果展示：以全链路分析为例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从横向和纵向多环节多维度搭建贷后全链路分析框架</a:t>
            </a: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以过程数据为例，展示设计思路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方法：标准化的贷后数据模型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新版贷后数据模型概览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以协催数据为例，展示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26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-3545"/>
            <a:ext cx="12192000" cy="720359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11942092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2.1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多个贷后环节数据的从</a:t>
            </a: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0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到</a:t>
            </a: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以及全面优化</a:t>
            </a:r>
          </a:p>
        </p:txBody>
      </p:sp>
      <p:cxnSp>
        <p:nvCxnSpPr>
          <p:cNvPr id="11" name="直接连接符 10" hidden="1">
            <a:extLst>
              <a:ext uri="{FF2B5EF4-FFF2-40B4-BE49-F238E27FC236}">
                <a16:creationId xmlns:a16="http://schemas.microsoft.com/office/drawing/2014/main" id="{FC78263C-8589-48E8-BDCB-77D84CCD3F8F}"/>
              </a:ext>
            </a:extLst>
          </p:cNvPr>
          <p:cNvCxnSpPr>
            <a:cxnSpLocks/>
          </p:cNvCxnSpPr>
          <p:nvPr/>
        </p:nvCxnSpPr>
        <p:spPr>
          <a:xfrm>
            <a:off x="5301084" y="1790163"/>
            <a:ext cx="0" cy="4530315"/>
          </a:xfrm>
          <a:prstGeom prst="line">
            <a:avLst/>
          </a:prstGeom>
          <a:ln w="12700">
            <a:solidFill>
              <a:srgbClr val="30549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DB44F30-7260-4181-9055-31AB5DE94B79}"/>
              </a:ext>
            </a:extLst>
          </p:cNvPr>
          <p:cNvSpPr txBox="1"/>
          <p:nvPr/>
        </p:nvSpPr>
        <p:spPr>
          <a:xfrm>
            <a:off x="2420442" y="1005813"/>
            <a:ext cx="2460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spc="300" dirty="0">
                <a:solidFill>
                  <a:srgbClr val="3054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BEFORE</a:t>
            </a:r>
            <a:endParaRPr lang="en-US" altLang="zh-CN" sz="2000" spc="300" dirty="0">
              <a:solidFill>
                <a:srgbClr val="3054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EDBAC-98CB-4E01-B4AA-4C2A2DEAED42}"/>
              </a:ext>
            </a:extLst>
          </p:cNvPr>
          <p:cNvSpPr txBox="1"/>
          <p:nvPr/>
        </p:nvSpPr>
        <p:spPr>
          <a:xfrm>
            <a:off x="5419191" y="1005813"/>
            <a:ext cx="2460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spc="300" dirty="0">
                <a:solidFill>
                  <a:srgbClr val="3054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77EE1DB-7037-4AB6-A72F-B5103A031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640232"/>
              </p:ext>
            </p:extLst>
          </p:nvPr>
        </p:nvGraphicFramePr>
        <p:xfrm>
          <a:off x="1026099" y="1560417"/>
          <a:ext cx="10741930" cy="5018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392">
                  <a:extLst>
                    <a:ext uri="{9D8B030D-6E8A-4147-A177-3AD203B41FA5}">
                      <a16:colId xmlns:a16="http://schemas.microsoft.com/office/drawing/2014/main" val="3917161119"/>
                    </a:ext>
                  </a:extLst>
                </a:gridCol>
                <a:gridCol w="3010559">
                  <a:extLst>
                    <a:ext uri="{9D8B030D-6E8A-4147-A177-3AD203B41FA5}">
                      <a16:colId xmlns:a16="http://schemas.microsoft.com/office/drawing/2014/main" val="3093729819"/>
                    </a:ext>
                  </a:extLst>
                </a:gridCol>
                <a:gridCol w="6414979">
                  <a:extLst>
                    <a:ext uri="{9D8B030D-6E8A-4147-A177-3AD203B41FA5}">
                      <a16:colId xmlns:a16="http://schemas.microsoft.com/office/drawing/2014/main" val="1888089928"/>
                    </a:ext>
                  </a:extLst>
                </a:gridCol>
              </a:tblGrid>
              <a:tr h="59381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风险指标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仅支持关键天数的风险指标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更全面地分析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vintage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风险，精准定位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489187"/>
                  </a:ext>
                </a:extLst>
              </a:tr>
              <a:tr h="59381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转化漏斗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可联情况口径不全面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结合催记和话务，能够更准确地判断用户还款意愿、分析用户行为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224173"/>
                  </a:ext>
                </a:extLst>
              </a:tr>
              <a:tr h="59381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过程指标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仅有催员维度数据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案件维度数据，能够结合案件信息进行分析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549633"/>
                  </a:ext>
                </a:extLst>
              </a:tr>
              <a:tr h="59381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触达渠道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数据口径复杂、无法统一管理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统一监控、分析短信、邮件、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push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等不同触达渠道数据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75828"/>
                  </a:ext>
                </a:extLst>
              </a:tr>
              <a:tr h="59381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客户画像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没有统一化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能够对多头指标、客户年龄、发标、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MOB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、模型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bin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、额度结构等维度进行拆分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896532"/>
                  </a:ext>
                </a:extLst>
              </a:tr>
              <a:tr h="252048">
                <a:tc>
                  <a:txBody>
                    <a:bodyPr/>
                    <a:lstStyle/>
                    <a:p>
                      <a:pPr algn="l"/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503323"/>
                  </a:ext>
                </a:extLst>
              </a:tr>
              <a:tr h="52636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精细化管理外包，实时监控当日回收和目标达成情况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94459"/>
                  </a:ext>
                </a:extLst>
              </a:tr>
              <a:tr h="59381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管理协催回收和过程数据，便利策略优化迭代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662639"/>
                  </a:ext>
                </a:extLst>
              </a:tr>
              <a:tr h="59381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机器人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集中化管理各家供应商表现，已建立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pk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机制和测试迭代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65924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DAE9A20-8F66-4875-B5B5-A865EC47AC69}"/>
              </a:ext>
            </a:extLst>
          </p:cNvPr>
          <p:cNvSpPr/>
          <p:nvPr/>
        </p:nvSpPr>
        <p:spPr>
          <a:xfrm>
            <a:off x="952500" y="1560417"/>
            <a:ext cx="10844103" cy="2992533"/>
          </a:xfrm>
          <a:prstGeom prst="rect">
            <a:avLst/>
          </a:prstGeom>
          <a:noFill/>
          <a:ln w="19050" cap="flat" cmpd="sng" algn="ctr">
            <a:solidFill>
              <a:srgbClr val="305496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A2DF2C-CA69-4BB5-AB2E-D13C80E0F365}"/>
              </a:ext>
            </a:extLst>
          </p:cNvPr>
          <p:cNvSpPr txBox="1"/>
          <p:nvPr/>
        </p:nvSpPr>
        <p:spPr>
          <a:xfrm>
            <a:off x="275979" y="1971675"/>
            <a:ext cx="553998" cy="24574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全面优化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1328211-F3FB-42D5-B7F9-E25771AB6FD0}"/>
              </a:ext>
            </a:extLst>
          </p:cNvPr>
          <p:cNvSpPr/>
          <p:nvPr/>
        </p:nvSpPr>
        <p:spPr>
          <a:xfrm>
            <a:off x="952500" y="4800600"/>
            <a:ext cx="10844103" cy="1845634"/>
          </a:xfrm>
          <a:prstGeom prst="rect">
            <a:avLst/>
          </a:prstGeom>
          <a:noFill/>
          <a:ln w="19050" cap="flat" cmpd="sng" algn="ctr">
            <a:solidFill>
              <a:srgbClr val="305496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C1D92AB-7A81-4C0C-B045-1033CC6714A1}"/>
              </a:ext>
            </a:extLst>
          </p:cNvPr>
          <p:cNvSpPr txBox="1"/>
          <p:nvPr/>
        </p:nvSpPr>
        <p:spPr>
          <a:xfrm>
            <a:off x="275979" y="4962525"/>
            <a:ext cx="553998" cy="24574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4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859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-3545"/>
            <a:ext cx="12192000" cy="720359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0C8475-FA8B-4615-B00F-14756B153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474" y="1181677"/>
            <a:ext cx="9185752" cy="501998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6516991-C3CD-4C01-A8AD-6A26338C1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11942092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2.2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贷后数据管理框架</a:t>
            </a:r>
          </a:p>
        </p:txBody>
      </p:sp>
    </p:spTree>
    <p:extLst>
      <p:ext uri="{BB962C8B-B14F-4D97-AF65-F5344CB8AC3E}">
        <p14:creationId xmlns:p14="http://schemas.microsoft.com/office/powerpoint/2010/main" val="140753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-3545"/>
            <a:ext cx="12192000" cy="720359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516991-C3CD-4C01-A8AD-6A26338C1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11942092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2.2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贷后数据管理框架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24BD99-CB73-4CB8-B080-79F165B18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066" y="949188"/>
            <a:ext cx="9045867" cy="563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7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8E0BE6-B189-471E-8485-72D9EFE2CCAA}"/>
              </a:ext>
            </a:extLst>
          </p:cNvPr>
          <p:cNvSpPr txBox="1"/>
          <p:nvPr/>
        </p:nvSpPr>
        <p:spPr>
          <a:xfrm>
            <a:off x="5525548" y="291847"/>
            <a:ext cx="114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3054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EEFCA0-0F81-4C1B-94E6-33C2AF4897D7}"/>
              </a:ext>
            </a:extLst>
          </p:cNvPr>
          <p:cNvSpPr txBox="1"/>
          <p:nvPr/>
        </p:nvSpPr>
        <p:spPr>
          <a:xfrm>
            <a:off x="496919" y="1149670"/>
            <a:ext cx="11012776" cy="530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背景：分析需求的不断增长需要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标准化、轻量化、全面化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成果：多个贷后环节数据的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全面优化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外包、协催、机器人管理的从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；风险指标、转化漏斗、过程指标、触达渠道、客户画像数据的优化；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贷后数据管理框架概览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成果展示：以全链路分析为例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从横向和纵向多环节多维度搭建贷后全链路分析框架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以过程数据为例，展示设计思路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方法：标准化的贷后数据模型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新版贷后数据模型概览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以协催数据为例，展示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6755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6FBAD576-7901-400C-AA58-59885E46AA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124" y="769733"/>
            <a:ext cx="4429339" cy="273329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-3545"/>
            <a:ext cx="12192000" cy="720359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08" y="141191"/>
            <a:ext cx="11942092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3.1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全面、轻量实现全链路风险管理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853310-248D-4AC9-B11A-072CB21678B1}"/>
              </a:ext>
            </a:extLst>
          </p:cNvPr>
          <p:cNvSpPr txBox="1"/>
          <p:nvPr/>
        </p:nvSpPr>
        <p:spPr>
          <a:xfrm>
            <a:off x="5004469" y="917057"/>
            <a:ext cx="69505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贷后全链路分析体系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横向：风险指标、可联转化漏斗、坐席过程数据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纵向：产品信息（产品线、金额、期限）、客户画像（模型评级、新老客）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全面、轻量地实现各产品线业务监控和迅速归因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086C82-52C4-4E92-8676-2FFA0D826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42" y="5161438"/>
            <a:ext cx="10918283" cy="14307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ACD9FAA-ABDF-479F-96CF-A7AC3C168D0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6923"/>
          <a:stretch/>
        </p:blipFill>
        <p:spPr>
          <a:xfrm>
            <a:off x="483142" y="3391535"/>
            <a:ext cx="10918283" cy="156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8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-3545"/>
            <a:ext cx="12192000" cy="720359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11942092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3.2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以过程数据为例，展示设计思路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4AA243-C7B2-43B0-B6DD-E38A26D75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48" y="805214"/>
            <a:ext cx="7468798" cy="594478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2B9454E-86E1-4B89-8CBC-5E8CB13ECCFF}"/>
              </a:ext>
            </a:extLst>
          </p:cNvPr>
          <p:cNvSpPr txBox="1"/>
          <p:nvPr/>
        </p:nvSpPr>
        <p:spPr>
          <a:xfrm>
            <a:off x="8126570" y="1557911"/>
            <a:ext cx="3849725" cy="3742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更全面的过程数据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从负荷、拨打、接通、渗透全环节监控过程数据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拆分工具、是否本人进行更细颗粒度的数据管理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联动其他维度，支持全面分析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在更标准化的贷后数据模型支持下，可以联动债务维度、客户画像等其他维度进行分析，实现全链路风险管理。</a:t>
            </a:r>
          </a:p>
        </p:txBody>
      </p:sp>
    </p:spTree>
    <p:extLst>
      <p:ext uri="{BB962C8B-B14F-4D97-AF65-F5344CB8AC3E}">
        <p14:creationId xmlns:p14="http://schemas.microsoft.com/office/powerpoint/2010/main" val="2688228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8E0BE6-B189-471E-8485-72D9EFE2CCAA}"/>
              </a:ext>
            </a:extLst>
          </p:cNvPr>
          <p:cNvSpPr txBox="1"/>
          <p:nvPr/>
        </p:nvSpPr>
        <p:spPr>
          <a:xfrm>
            <a:off x="5525548" y="291847"/>
            <a:ext cx="114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3054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EEFCA0-0F81-4C1B-94E6-33C2AF4897D7}"/>
              </a:ext>
            </a:extLst>
          </p:cNvPr>
          <p:cNvSpPr txBox="1"/>
          <p:nvPr/>
        </p:nvSpPr>
        <p:spPr>
          <a:xfrm>
            <a:off x="496919" y="1149670"/>
            <a:ext cx="11012776" cy="510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背景：分析需求的不断增长需要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标准化、轻量化、全面化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成果：多个贷后环节数据的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全面优化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多个贷后环节数据的从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以及全面优化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贷后数据管理框架概览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成果展示：以全链路分析为例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从横向和纵向多环节多维度搭建贷后全链路分析框架</a:t>
            </a:r>
          </a:p>
          <a:p>
            <a:pPr marL="857250" lvl="1" indent="-400050" algn="just">
              <a:lnSpc>
                <a:spcPct val="150000"/>
              </a:lnSpc>
              <a:spcAft>
                <a:spcPts val="600"/>
              </a:spcAft>
              <a:buFont typeface="+mj-lt"/>
              <a:buAutoNum type="romanUcPeriod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以过程数据为例，展示设计思路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Aft>
                <a:spcPts val="600"/>
              </a:spcAft>
            </a:pP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方法：标准化的贷后数据模型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新版贷后数据模型概览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以协催数据为例，展示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696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CF0C3B93-F1A3-324E-B344-3E694D1D1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938" y="973626"/>
            <a:ext cx="7733062" cy="5616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4844"/>
            <a:ext cx="12192000" cy="720359"/>
          </a:xfrm>
          <a:prstGeom prst="rect">
            <a:avLst/>
          </a:prstGeom>
          <a:solidFill>
            <a:srgbClr val="305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7792967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/>
          <a:p>
            <a:pPr>
              <a:spcBef>
                <a:spcPct val="20000"/>
              </a:spcBef>
              <a:buFont typeface="Arial" charset="0"/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4.1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催收数据模型：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1.0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升级到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2.0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198C0A-FCAB-F344-972E-E239A80320DB}"/>
              </a:ext>
            </a:extLst>
          </p:cNvPr>
          <p:cNvSpPr txBox="1"/>
          <p:nvPr/>
        </p:nvSpPr>
        <p:spPr>
          <a:xfrm>
            <a:off x="180000" y="1094227"/>
            <a:ext cx="3576991" cy="251876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模型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1.0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基于业务统计口径设计，业务逻辑耦合在数仓层数据里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问题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关系耦合新增场景可复用性低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下游使用不便捷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A34D99A-C1B4-DA44-A4BD-7516126E79AC}"/>
              </a:ext>
            </a:extLst>
          </p:cNvPr>
          <p:cNvSpPr txBox="1"/>
          <p:nvPr/>
        </p:nvSpPr>
        <p:spPr>
          <a:xfrm>
            <a:off x="180000" y="4097370"/>
            <a:ext cx="3576991" cy="22647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模型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2.0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业务理解加深：指标、业务过程、数据、关联关系梳理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解耦数仓公共层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可复用的指标数据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多国家复用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新国家部署中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A8A446-DA46-604B-B347-25BEFC1874BF}"/>
              </a:ext>
            </a:extLst>
          </p:cNvPr>
          <p:cNvSpPr/>
          <p:nvPr/>
        </p:nvSpPr>
        <p:spPr>
          <a:xfrm>
            <a:off x="7100559" y="764562"/>
            <a:ext cx="1728358" cy="4181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催收数据模型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2.0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5B1E470-0230-1D4A-961D-7913FE7AC0EE}"/>
              </a:ext>
            </a:extLst>
          </p:cNvPr>
          <p:cNvGrpSpPr/>
          <p:nvPr/>
        </p:nvGrpSpPr>
        <p:grpSpPr>
          <a:xfrm>
            <a:off x="8394421" y="6555571"/>
            <a:ext cx="3456000" cy="216000"/>
            <a:chOff x="6676831" y="6642000"/>
            <a:chExt cx="3456000" cy="2160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2DDDF1E-DF09-6949-A7D8-8345E4DD0975}"/>
                </a:ext>
              </a:extLst>
            </p:cNvPr>
            <p:cNvSpPr/>
            <p:nvPr/>
          </p:nvSpPr>
          <p:spPr>
            <a:xfrm>
              <a:off x="7828831" y="6642000"/>
              <a:ext cx="1152000" cy="216000"/>
            </a:xfrm>
            <a:prstGeom prst="rect">
              <a:avLst/>
            </a:prstGeom>
            <a:solidFill>
              <a:srgbClr val="C148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新增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6148E95-398F-B34C-8F7D-1A7DF511640E}"/>
                </a:ext>
              </a:extLst>
            </p:cNvPr>
            <p:cNvSpPr/>
            <p:nvPr/>
          </p:nvSpPr>
          <p:spPr>
            <a:xfrm>
              <a:off x="8980831" y="6642000"/>
              <a:ext cx="1152000" cy="21600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迭代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91252B5-44C3-6642-880C-F5BBAC85C68F}"/>
                </a:ext>
              </a:extLst>
            </p:cNvPr>
            <p:cNvSpPr/>
            <p:nvPr/>
          </p:nvSpPr>
          <p:spPr>
            <a:xfrm>
              <a:off x="6676831" y="6642000"/>
              <a:ext cx="1152000" cy="216000"/>
            </a:xfrm>
            <a:prstGeom prst="rect">
              <a:avLst/>
            </a:prstGeom>
            <a:solidFill>
              <a:srgbClr val="FFEA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存量梳理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7919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7E87FB0-2FBD-8C48-BC20-47B49819F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14" y="1450276"/>
            <a:ext cx="11961372" cy="5040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4844"/>
            <a:ext cx="12192000" cy="720359"/>
          </a:xfrm>
          <a:prstGeom prst="rect">
            <a:avLst/>
          </a:prstGeom>
          <a:solidFill>
            <a:srgbClr val="305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7792967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zh-CN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4.2 </a:t>
            </a:r>
            <a:r>
              <a:rPr lang="zh-CN" altLang="en-US" sz="2000" b="1" dirty="0">
                <a:solidFill>
                  <a:schemeClr val="bg1"/>
                </a:solidFill>
                <a:cs typeface="Calibri" panose="020F0502020204030204" pitchFamily="34" charset="0"/>
                <a:sym typeface="Arial" panose="020B0604020202020204" pitchFamily="34" charset="0"/>
              </a:rPr>
              <a:t>催收数据模型：主协催指标复用提效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06387D-4367-8828-C6DB-589B9FA31D39}"/>
              </a:ext>
            </a:extLst>
          </p:cNvPr>
          <p:cNvSpPr txBox="1"/>
          <p:nvPr/>
        </p:nvSpPr>
        <p:spPr>
          <a:xfrm>
            <a:off x="0" y="810538"/>
            <a:ext cx="12071586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从“重复造车”到公共逻辑抽象成“积木”再组装成“乐高”，提升复用性和迭代效率。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F1ABFB-78E3-6D4F-BE01-ABAAAF605983}"/>
              </a:ext>
            </a:extLst>
          </p:cNvPr>
          <p:cNvSpPr txBox="1"/>
          <p:nvPr/>
        </p:nvSpPr>
        <p:spPr>
          <a:xfrm>
            <a:off x="185100" y="3576546"/>
            <a:ext cx="1537589" cy="78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主催逻辑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“重复造车”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5A0FF8-5A23-5740-94C6-F4F0AAFD2BB9}"/>
              </a:ext>
            </a:extLst>
          </p:cNvPr>
          <p:cNvSpPr txBox="1"/>
          <p:nvPr/>
        </p:nvSpPr>
        <p:spPr>
          <a:xfrm>
            <a:off x="5078351" y="1767197"/>
            <a:ext cx="2990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原子化“积木”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B0380B-9C37-5140-A992-DA67CFE1CD2E}"/>
              </a:ext>
            </a:extLst>
          </p:cNvPr>
          <p:cNvSpPr txBox="1"/>
          <p:nvPr/>
        </p:nvSpPr>
        <p:spPr>
          <a:xfrm>
            <a:off x="10483629" y="1228666"/>
            <a:ext cx="1481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“乐高”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589A0D-A91F-CC49-8695-9E9B42927760}"/>
              </a:ext>
            </a:extLst>
          </p:cNvPr>
          <p:cNvSpPr txBox="1"/>
          <p:nvPr/>
        </p:nvSpPr>
        <p:spPr>
          <a:xfrm>
            <a:off x="289306" y="6410192"/>
            <a:ext cx="36081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主协催指标逻辑基本一致，分别统计</a:t>
            </a:r>
          </a:p>
        </p:txBody>
      </p:sp>
    </p:spTree>
    <p:extLst>
      <p:ext uri="{BB962C8B-B14F-4D97-AF65-F5344CB8AC3E}">
        <p14:creationId xmlns:p14="http://schemas.microsoft.com/office/powerpoint/2010/main" val="3444335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4844"/>
            <a:ext cx="12192000" cy="720359"/>
          </a:xfrm>
          <a:prstGeom prst="rect">
            <a:avLst/>
          </a:prstGeom>
          <a:solidFill>
            <a:srgbClr val="305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7792967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/>
          <a:p>
            <a:pPr>
              <a:spcBef>
                <a:spcPct val="20000"/>
              </a:spcBef>
              <a:buFont typeface="Arial" charset="0"/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4.3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催收数据模型：数据指标助力业务分析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06387D-4367-8828-C6DB-589B9FA31D39}"/>
              </a:ext>
            </a:extLst>
          </p:cNvPr>
          <p:cNvSpPr txBox="1"/>
          <p:nvPr/>
        </p:nvSpPr>
        <p:spPr>
          <a:xfrm>
            <a:off x="0" y="810538"/>
            <a:ext cx="12071586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已经新增业务分享场景使用，历史的分析内容逐步迭代。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DE5DFE1-BC7D-664F-AD95-03E248FE32E7}"/>
              </a:ext>
            </a:extLst>
          </p:cNvPr>
          <p:cNvSpPr/>
          <p:nvPr/>
        </p:nvSpPr>
        <p:spPr>
          <a:xfrm>
            <a:off x="1774499" y="1754230"/>
            <a:ext cx="2880000" cy="432000"/>
          </a:xfrm>
          <a:prstGeom prst="roundRect">
            <a:avLst/>
          </a:prstGeom>
          <a:solidFill>
            <a:srgbClr val="D1F6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风险类指标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BC8DCBA-F3AB-064E-8CD0-6F611C61B4C5}"/>
              </a:ext>
            </a:extLst>
          </p:cNvPr>
          <p:cNvGrpSpPr/>
          <p:nvPr/>
        </p:nvGrpSpPr>
        <p:grpSpPr>
          <a:xfrm>
            <a:off x="1518814" y="4046837"/>
            <a:ext cx="827999" cy="827999"/>
            <a:chOff x="307838" y="3700843"/>
            <a:chExt cx="1007999" cy="1007999"/>
          </a:xfrm>
        </p:grpSpPr>
        <p:sp>
          <p:nvSpPr>
            <p:cNvPr id="9" name="Rounded Rectangle 93">
              <a:extLst>
                <a:ext uri="{FF2B5EF4-FFF2-40B4-BE49-F238E27FC236}">
                  <a16:creationId xmlns:a16="http://schemas.microsoft.com/office/drawing/2014/main" id="{C8CA7B09-A592-EB44-812D-03588F435AA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7838" y="3700843"/>
              <a:ext cx="1007999" cy="1007999"/>
            </a:xfrm>
            <a:prstGeom prst="ellipse">
              <a:avLst/>
            </a:prstGeom>
            <a:solidFill>
              <a:srgbClr val="2F5496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  <a:cs typeface="+mn-cs"/>
              </a:endParaRPr>
            </a:p>
          </p:txBody>
        </p:sp>
        <p:sp>
          <p:nvSpPr>
            <p:cNvPr id="10" name="KSO_Shape">
              <a:extLst>
                <a:ext uri="{FF2B5EF4-FFF2-40B4-BE49-F238E27FC236}">
                  <a16:creationId xmlns:a16="http://schemas.microsoft.com/office/drawing/2014/main" id="{D91A81ED-415F-9444-88BE-98A125D6417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837" y="3944744"/>
              <a:ext cx="612000" cy="520196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280B7EE-99F2-B24D-8778-8C2D814D832F}"/>
              </a:ext>
            </a:extLst>
          </p:cNvPr>
          <p:cNvSpPr txBox="1"/>
          <p:nvPr/>
        </p:nvSpPr>
        <p:spPr>
          <a:xfrm>
            <a:off x="2477671" y="4231382"/>
            <a:ext cx="2333658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月使用次数：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330+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8504D78-7492-C546-ADC1-B8AF91D3AF3C}"/>
              </a:ext>
            </a:extLst>
          </p:cNvPr>
          <p:cNvGrpSpPr/>
          <p:nvPr/>
        </p:nvGrpSpPr>
        <p:grpSpPr>
          <a:xfrm>
            <a:off x="1538255" y="5640598"/>
            <a:ext cx="827999" cy="827999"/>
            <a:chOff x="346719" y="5039462"/>
            <a:chExt cx="1008000" cy="1008000"/>
          </a:xfrm>
        </p:grpSpPr>
        <p:sp>
          <p:nvSpPr>
            <p:cNvPr id="11" name="Rounded Rectangle 93">
              <a:extLst>
                <a:ext uri="{FF2B5EF4-FFF2-40B4-BE49-F238E27FC236}">
                  <a16:creationId xmlns:a16="http://schemas.microsoft.com/office/drawing/2014/main" id="{029587DB-741E-7D4B-9B83-3160C0BD27E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6719" y="5039462"/>
              <a:ext cx="1008000" cy="1008000"/>
            </a:xfrm>
            <a:prstGeom prst="ellipse">
              <a:avLst/>
            </a:prstGeom>
            <a:solidFill>
              <a:srgbClr val="2F5496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  <a:cs typeface="+mn-cs"/>
              </a:endParaRPr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764EF268-E960-8045-AE33-1C05AA54FED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26719" y="5275502"/>
              <a:ext cx="648000" cy="535920"/>
            </a:xfrm>
            <a:custGeom>
              <a:avLst/>
              <a:gdLst>
                <a:gd name="T0" fmla="*/ 170 w 326"/>
                <a:gd name="T1" fmla="*/ 108 h 272"/>
                <a:gd name="T2" fmla="*/ 148 w 326"/>
                <a:gd name="T3" fmla="*/ 160 h 272"/>
                <a:gd name="T4" fmla="*/ 148 w 326"/>
                <a:gd name="T5" fmla="*/ 106 h 272"/>
                <a:gd name="T6" fmla="*/ 206 w 326"/>
                <a:gd name="T7" fmla="*/ 83 h 272"/>
                <a:gd name="T8" fmla="*/ 181 w 326"/>
                <a:gd name="T9" fmla="*/ 83 h 272"/>
                <a:gd name="T10" fmla="*/ 204 w 326"/>
                <a:gd name="T11" fmla="*/ 160 h 272"/>
                <a:gd name="T12" fmla="*/ 242 w 326"/>
                <a:gd name="T13" fmla="*/ 118 h 272"/>
                <a:gd name="T14" fmla="*/ 217 w 326"/>
                <a:gd name="T15" fmla="*/ 118 h 272"/>
                <a:gd name="T16" fmla="*/ 239 w 326"/>
                <a:gd name="T17" fmla="*/ 160 h 272"/>
                <a:gd name="T18" fmla="*/ 277 w 326"/>
                <a:gd name="T19" fmla="*/ 97 h 272"/>
                <a:gd name="T20" fmla="*/ 252 w 326"/>
                <a:gd name="T21" fmla="*/ 97 h 272"/>
                <a:gd name="T22" fmla="*/ 275 w 326"/>
                <a:gd name="T23" fmla="*/ 160 h 272"/>
                <a:gd name="T24" fmla="*/ 73 w 326"/>
                <a:gd name="T25" fmla="*/ 50 h 272"/>
                <a:gd name="T26" fmla="*/ 53 w 326"/>
                <a:gd name="T27" fmla="*/ 14 h 272"/>
                <a:gd name="T28" fmla="*/ 32 w 326"/>
                <a:gd name="T29" fmla="*/ 50 h 272"/>
                <a:gd name="T30" fmla="*/ 106 w 326"/>
                <a:gd name="T31" fmla="*/ 128 h 272"/>
                <a:gd name="T32" fmla="*/ 116 w 326"/>
                <a:gd name="T33" fmla="*/ 127 h 272"/>
                <a:gd name="T34" fmla="*/ 145 w 326"/>
                <a:gd name="T35" fmla="*/ 98 h 272"/>
                <a:gd name="T36" fmla="*/ 165 w 326"/>
                <a:gd name="T37" fmla="*/ 62 h 272"/>
                <a:gd name="T38" fmla="*/ 131 w 326"/>
                <a:gd name="T39" fmla="*/ 86 h 272"/>
                <a:gd name="T40" fmla="*/ 110 w 326"/>
                <a:gd name="T41" fmla="*/ 107 h 272"/>
                <a:gd name="T42" fmla="*/ 89 w 326"/>
                <a:gd name="T43" fmla="*/ 83 h 272"/>
                <a:gd name="T44" fmla="*/ 87 w 326"/>
                <a:gd name="T45" fmla="*/ 80 h 272"/>
                <a:gd name="T46" fmla="*/ 58 w 326"/>
                <a:gd name="T47" fmla="*/ 102 h 272"/>
                <a:gd name="T48" fmla="*/ 54 w 326"/>
                <a:gd name="T49" fmla="*/ 75 h 272"/>
                <a:gd name="T50" fmla="*/ 49 w 326"/>
                <a:gd name="T51" fmla="*/ 84 h 272"/>
                <a:gd name="T52" fmla="*/ 33 w 326"/>
                <a:gd name="T53" fmla="*/ 75 h 272"/>
                <a:gd name="T54" fmla="*/ 2 w 326"/>
                <a:gd name="T55" fmla="*/ 165 h 272"/>
                <a:gd name="T56" fmla="*/ 18 w 326"/>
                <a:gd name="T57" fmla="*/ 133 h 272"/>
                <a:gd name="T58" fmla="*/ 25 w 326"/>
                <a:gd name="T59" fmla="*/ 167 h 272"/>
                <a:gd name="T60" fmla="*/ 49 w 326"/>
                <a:gd name="T61" fmla="*/ 259 h 272"/>
                <a:gd name="T62" fmla="*/ 55 w 326"/>
                <a:gd name="T63" fmla="*/ 259 h 272"/>
                <a:gd name="T64" fmla="*/ 80 w 326"/>
                <a:gd name="T65" fmla="*/ 167 h 272"/>
                <a:gd name="T66" fmla="*/ 86 w 326"/>
                <a:gd name="T67" fmla="*/ 109 h 272"/>
                <a:gd name="T68" fmla="*/ 102 w 326"/>
                <a:gd name="T69" fmla="*/ 126 h 272"/>
                <a:gd name="T70" fmla="*/ 156 w 326"/>
                <a:gd name="T71" fmla="*/ 215 h 272"/>
                <a:gd name="T72" fmla="*/ 151 w 326"/>
                <a:gd name="T73" fmla="*/ 271 h 272"/>
                <a:gd name="T74" fmla="*/ 204 w 326"/>
                <a:gd name="T75" fmla="*/ 215 h 272"/>
                <a:gd name="T76" fmla="*/ 212 w 326"/>
                <a:gd name="T77" fmla="*/ 247 h 272"/>
                <a:gd name="T78" fmla="*/ 251 w 326"/>
                <a:gd name="T79" fmla="*/ 215 h 272"/>
                <a:gd name="T80" fmla="*/ 273 w 326"/>
                <a:gd name="T81" fmla="*/ 271 h 272"/>
                <a:gd name="T82" fmla="*/ 274 w 326"/>
                <a:gd name="T83" fmla="*/ 215 h 272"/>
                <a:gd name="T84" fmla="*/ 142 w 326"/>
                <a:gd name="T85" fmla="*/ 208 h 272"/>
                <a:gd name="T86" fmla="*/ 211 w 326"/>
                <a:gd name="T87" fmla="*/ 0 h 272"/>
                <a:gd name="T88" fmla="*/ 219 w 326"/>
                <a:gd name="T89" fmla="*/ 26 h 272"/>
                <a:gd name="T90" fmla="*/ 112 w 326"/>
                <a:gd name="T91" fmla="*/ 30 h 272"/>
                <a:gd name="T92" fmla="*/ 106 w 326"/>
                <a:gd name="T93" fmla="*/ 97 h 272"/>
                <a:gd name="T94" fmla="*/ 112 w 326"/>
                <a:gd name="T95" fmla="*/ 39 h 272"/>
                <a:gd name="T96" fmla="*/ 317 w 326"/>
                <a:gd name="T97" fmla="*/ 45 h 272"/>
                <a:gd name="T98" fmla="*/ 311 w 326"/>
                <a:gd name="T99" fmla="*/ 194 h 272"/>
                <a:gd name="T100" fmla="*/ 106 w 326"/>
                <a:gd name="T101" fmla="*/ 188 h 272"/>
                <a:gd name="T102" fmla="*/ 102 w 326"/>
                <a:gd name="T103" fmla="*/ 131 h 272"/>
                <a:gd name="T104" fmla="*/ 97 w 326"/>
                <a:gd name="T105" fmla="*/ 127 h 272"/>
                <a:gd name="T106" fmla="*/ 311 w 326"/>
                <a:gd name="T107" fmla="*/ 204 h 272"/>
                <a:gd name="T108" fmla="*/ 311 w 326"/>
                <a:gd name="T109" fmla="*/ 3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6" h="272">
                  <a:moveTo>
                    <a:pt x="148" y="106"/>
                  </a:move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70" y="107"/>
                    <a:pt x="170" y="108"/>
                  </a:cubicBezTo>
                  <a:cubicBezTo>
                    <a:pt x="170" y="158"/>
                    <a:pt x="170" y="158"/>
                    <a:pt x="170" y="158"/>
                  </a:cubicBezTo>
                  <a:cubicBezTo>
                    <a:pt x="170" y="159"/>
                    <a:pt x="169" y="160"/>
                    <a:pt x="168" y="160"/>
                  </a:cubicBezTo>
                  <a:cubicBezTo>
                    <a:pt x="148" y="160"/>
                    <a:pt x="148" y="160"/>
                    <a:pt x="148" y="160"/>
                  </a:cubicBezTo>
                  <a:cubicBezTo>
                    <a:pt x="147" y="160"/>
                    <a:pt x="146" y="159"/>
                    <a:pt x="146" y="158"/>
                  </a:cubicBezTo>
                  <a:cubicBezTo>
                    <a:pt x="146" y="108"/>
                    <a:pt x="146" y="108"/>
                    <a:pt x="146" y="108"/>
                  </a:cubicBezTo>
                  <a:cubicBezTo>
                    <a:pt x="146" y="107"/>
                    <a:pt x="147" y="106"/>
                    <a:pt x="148" y="106"/>
                  </a:cubicBezTo>
                  <a:close/>
                  <a:moveTo>
                    <a:pt x="204" y="160"/>
                  </a:moveTo>
                  <a:cubicBezTo>
                    <a:pt x="205" y="160"/>
                    <a:pt x="206" y="159"/>
                    <a:pt x="206" y="158"/>
                  </a:cubicBezTo>
                  <a:cubicBezTo>
                    <a:pt x="206" y="83"/>
                    <a:pt x="206" y="83"/>
                    <a:pt x="206" y="83"/>
                  </a:cubicBezTo>
                  <a:cubicBezTo>
                    <a:pt x="206" y="82"/>
                    <a:pt x="205" y="81"/>
                    <a:pt x="204" y="81"/>
                  </a:cubicBezTo>
                  <a:cubicBezTo>
                    <a:pt x="183" y="81"/>
                    <a:pt x="183" y="81"/>
                    <a:pt x="183" y="81"/>
                  </a:cubicBezTo>
                  <a:cubicBezTo>
                    <a:pt x="182" y="81"/>
                    <a:pt x="181" y="82"/>
                    <a:pt x="181" y="83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1" y="159"/>
                    <a:pt x="182" y="160"/>
                    <a:pt x="183" y="160"/>
                  </a:cubicBezTo>
                  <a:lnTo>
                    <a:pt x="204" y="160"/>
                  </a:lnTo>
                  <a:close/>
                  <a:moveTo>
                    <a:pt x="239" y="160"/>
                  </a:moveTo>
                  <a:cubicBezTo>
                    <a:pt x="241" y="160"/>
                    <a:pt x="242" y="159"/>
                    <a:pt x="242" y="158"/>
                  </a:cubicBezTo>
                  <a:cubicBezTo>
                    <a:pt x="242" y="118"/>
                    <a:pt x="242" y="118"/>
                    <a:pt x="242" y="118"/>
                  </a:cubicBezTo>
                  <a:cubicBezTo>
                    <a:pt x="242" y="117"/>
                    <a:pt x="241" y="116"/>
                    <a:pt x="239" y="116"/>
                  </a:cubicBezTo>
                  <a:cubicBezTo>
                    <a:pt x="219" y="116"/>
                    <a:pt x="219" y="116"/>
                    <a:pt x="219" y="116"/>
                  </a:cubicBezTo>
                  <a:cubicBezTo>
                    <a:pt x="218" y="116"/>
                    <a:pt x="217" y="117"/>
                    <a:pt x="217" y="118"/>
                  </a:cubicBezTo>
                  <a:cubicBezTo>
                    <a:pt x="217" y="158"/>
                    <a:pt x="217" y="158"/>
                    <a:pt x="217" y="158"/>
                  </a:cubicBezTo>
                  <a:cubicBezTo>
                    <a:pt x="217" y="159"/>
                    <a:pt x="218" y="160"/>
                    <a:pt x="219" y="160"/>
                  </a:cubicBezTo>
                  <a:lnTo>
                    <a:pt x="239" y="160"/>
                  </a:lnTo>
                  <a:close/>
                  <a:moveTo>
                    <a:pt x="275" y="160"/>
                  </a:moveTo>
                  <a:cubicBezTo>
                    <a:pt x="276" y="160"/>
                    <a:pt x="277" y="159"/>
                    <a:pt x="277" y="158"/>
                  </a:cubicBezTo>
                  <a:cubicBezTo>
                    <a:pt x="277" y="97"/>
                    <a:pt x="277" y="97"/>
                    <a:pt x="277" y="97"/>
                  </a:cubicBezTo>
                  <a:cubicBezTo>
                    <a:pt x="277" y="96"/>
                    <a:pt x="276" y="95"/>
                    <a:pt x="275" y="95"/>
                  </a:cubicBezTo>
                  <a:cubicBezTo>
                    <a:pt x="255" y="95"/>
                    <a:pt x="255" y="95"/>
                    <a:pt x="255" y="95"/>
                  </a:cubicBezTo>
                  <a:cubicBezTo>
                    <a:pt x="253" y="95"/>
                    <a:pt x="252" y="96"/>
                    <a:pt x="252" y="97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52" y="159"/>
                    <a:pt x="253" y="160"/>
                    <a:pt x="255" y="160"/>
                  </a:cubicBezTo>
                  <a:lnTo>
                    <a:pt x="275" y="160"/>
                  </a:lnTo>
                  <a:close/>
                  <a:moveTo>
                    <a:pt x="32" y="50"/>
                  </a:moveTo>
                  <a:cubicBezTo>
                    <a:pt x="35" y="60"/>
                    <a:pt x="42" y="69"/>
                    <a:pt x="53" y="69"/>
                  </a:cubicBezTo>
                  <a:cubicBezTo>
                    <a:pt x="63" y="69"/>
                    <a:pt x="70" y="60"/>
                    <a:pt x="73" y="50"/>
                  </a:cubicBezTo>
                  <a:cubicBezTo>
                    <a:pt x="76" y="48"/>
                    <a:pt x="78" y="44"/>
                    <a:pt x="77" y="41"/>
                  </a:cubicBezTo>
                  <a:cubicBezTo>
                    <a:pt x="77" y="38"/>
                    <a:pt x="76" y="37"/>
                    <a:pt x="74" y="37"/>
                  </a:cubicBezTo>
                  <a:cubicBezTo>
                    <a:pt x="74" y="24"/>
                    <a:pt x="65" y="14"/>
                    <a:pt x="53" y="14"/>
                  </a:cubicBezTo>
                  <a:cubicBezTo>
                    <a:pt x="40" y="14"/>
                    <a:pt x="32" y="24"/>
                    <a:pt x="31" y="37"/>
                  </a:cubicBezTo>
                  <a:cubicBezTo>
                    <a:pt x="29" y="37"/>
                    <a:pt x="28" y="38"/>
                    <a:pt x="27" y="41"/>
                  </a:cubicBezTo>
                  <a:cubicBezTo>
                    <a:pt x="27" y="44"/>
                    <a:pt x="29" y="49"/>
                    <a:pt x="32" y="50"/>
                  </a:cubicBezTo>
                  <a:close/>
                  <a:moveTo>
                    <a:pt x="102" y="126"/>
                  </a:moveTo>
                  <a:cubicBezTo>
                    <a:pt x="103" y="127"/>
                    <a:pt x="103" y="127"/>
                    <a:pt x="104" y="127"/>
                  </a:cubicBezTo>
                  <a:cubicBezTo>
                    <a:pt x="104" y="128"/>
                    <a:pt x="105" y="128"/>
                    <a:pt x="106" y="128"/>
                  </a:cubicBezTo>
                  <a:cubicBezTo>
                    <a:pt x="107" y="129"/>
                    <a:pt x="108" y="129"/>
                    <a:pt x="109" y="129"/>
                  </a:cubicBezTo>
                  <a:cubicBezTo>
                    <a:pt x="110" y="129"/>
                    <a:pt x="111" y="128"/>
                    <a:pt x="112" y="128"/>
                  </a:cubicBezTo>
                  <a:cubicBezTo>
                    <a:pt x="114" y="128"/>
                    <a:pt x="115" y="127"/>
                    <a:pt x="116" y="127"/>
                  </a:cubicBezTo>
                  <a:cubicBezTo>
                    <a:pt x="117" y="126"/>
                    <a:pt x="118" y="125"/>
                    <a:pt x="120" y="124"/>
                  </a:cubicBezTo>
                  <a:cubicBezTo>
                    <a:pt x="122" y="121"/>
                    <a:pt x="125" y="119"/>
                    <a:pt x="128" y="116"/>
                  </a:cubicBezTo>
                  <a:cubicBezTo>
                    <a:pt x="136" y="108"/>
                    <a:pt x="145" y="98"/>
                    <a:pt x="145" y="98"/>
                  </a:cubicBezTo>
                  <a:cubicBezTo>
                    <a:pt x="148" y="95"/>
                    <a:pt x="148" y="89"/>
                    <a:pt x="145" y="85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6" y="65"/>
                    <a:pt x="166" y="63"/>
                    <a:pt x="165" y="62"/>
                  </a:cubicBezTo>
                  <a:cubicBezTo>
                    <a:pt x="164" y="61"/>
                    <a:pt x="162" y="61"/>
                    <a:pt x="161" y="62"/>
                  </a:cubicBezTo>
                  <a:cubicBezTo>
                    <a:pt x="139" y="83"/>
                    <a:pt x="139" y="83"/>
                    <a:pt x="139" y="83"/>
                  </a:cubicBezTo>
                  <a:cubicBezTo>
                    <a:pt x="136" y="82"/>
                    <a:pt x="133" y="83"/>
                    <a:pt x="13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29" y="87"/>
                    <a:pt x="123" y="94"/>
                    <a:pt x="117" y="100"/>
                  </a:cubicBezTo>
                  <a:cubicBezTo>
                    <a:pt x="115" y="103"/>
                    <a:pt x="112" y="105"/>
                    <a:pt x="110" y="107"/>
                  </a:cubicBezTo>
                  <a:cubicBezTo>
                    <a:pt x="108" y="106"/>
                    <a:pt x="106" y="104"/>
                    <a:pt x="105" y="102"/>
                  </a:cubicBezTo>
                  <a:cubicBezTo>
                    <a:pt x="101" y="97"/>
                    <a:pt x="96" y="92"/>
                    <a:pt x="93" y="88"/>
                  </a:cubicBezTo>
                  <a:cubicBezTo>
                    <a:pt x="91" y="86"/>
                    <a:pt x="90" y="84"/>
                    <a:pt x="89" y="83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1"/>
                    <a:pt x="87" y="81"/>
                    <a:pt x="87" y="81"/>
                  </a:cubicBezTo>
                  <a:cubicBezTo>
                    <a:pt x="87" y="81"/>
                    <a:pt x="87" y="81"/>
                    <a:pt x="87" y="80"/>
                  </a:cubicBezTo>
                  <a:cubicBezTo>
                    <a:pt x="86" y="79"/>
                    <a:pt x="83" y="77"/>
                    <a:pt x="73" y="74"/>
                  </a:cubicBezTo>
                  <a:cubicBezTo>
                    <a:pt x="71" y="74"/>
                    <a:pt x="69" y="73"/>
                    <a:pt x="67" y="73"/>
                  </a:cubicBezTo>
                  <a:cubicBezTo>
                    <a:pt x="66" y="77"/>
                    <a:pt x="65" y="88"/>
                    <a:pt x="58" y="102"/>
                  </a:cubicBezTo>
                  <a:cubicBezTo>
                    <a:pt x="57" y="93"/>
                    <a:pt x="55" y="85"/>
                    <a:pt x="55" y="84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9" y="85"/>
                    <a:pt x="48" y="93"/>
                    <a:pt x="47" y="102"/>
                  </a:cubicBezTo>
                  <a:cubicBezTo>
                    <a:pt x="40" y="88"/>
                    <a:pt x="38" y="77"/>
                    <a:pt x="38" y="73"/>
                  </a:cubicBezTo>
                  <a:cubicBezTo>
                    <a:pt x="36" y="73"/>
                    <a:pt x="34" y="74"/>
                    <a:pt x="33" y="75"/>
                  </a:cubicBezTo>
                  <a:cubicBezTo>
                    <a:pt x="27" y="76"/>
                    <a:pt x="18" y="79"/>
                    <a:pt x="14" y="82"/>
                  </a:cubicBezTo>
                  <a:cubicBezTo>
                    <a:pt x="11" y="84"/>
                    <a:pt x="3" y="96"/>
                    <a:pt x="0" y="132"/>
                  </a:cubicBezTo>
                  <a:cubicBezTo>
                    <a:pt x="0" y="143"/>
                    <a:pt x="2" y="165"/>
                    <a:pt x="2" y="165"/>
                  </a:cubicBezTo>
                  <a:cubicBezTo>
                    <a:pt x="3" y="171"/>
                    <a:pt x="4" y="176"/>
                    <a:pt x="10" y="176"/>
                  </a:cubicBezTo>
                  <a:cubicBezTo>
                    <a:pt x="17" y="177"/>
                    <a:pt x="19" y="172"/>
                    <a:pt x="19" y="166"/>
                  </a:cubicBezTo>
                  <a:cubicBezTo>
                    <a:pt x="19" y="166"/>
                    <a:pt x="17" y="148"/>
                    <a:pt x="18" y="133"/>
                  </a:cubicBezTo>
                  <a:cubicBezTo>
                    <a:pt x="19" y="121"/>
                    <a:pt x="22" y="104"/>
                    <a:pt x="24" y="103"/>
                  </a:cubicBezTo>
                  <a:cubicBezTo>
                    <a:pt x="24" y="103"/>
                    <a:pt x="24" y="161"/>
                    <a:pt x="24" y="161"/>
                  </a:cubicBezTo>
                  <a:cubicBezTo>
                    <a:pt x="24" y="163"/>
                    <a:pt x="24" y="165"/>
                    <a:pt x="25" y="167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5" y="266"/>
                    <a:pt x="30" y="271"/>
                    <a:pt x="37" y="271"/>
                  </a:cubicBezTo>
                  <a:cubicBezTo>
                    <a:pt x="44" y="271"/>
                    <a:pt x="49" y="266"/>
                    <a:pt x="49" y="259"/>
                  </a:cubicBezTo>
                  <a:cubicBezTo>
                    <a:pt x="49" y="177"/>
                    <a:pt x="49" y="177"/>
                    <a:pt x="49" y="177"/>
                  </a:cubicBezTo>
                  <a:cubicBezTo>
                    <a:pt x="55" y="177"/>
                    <a:pt x="55" y="177"/>
                    <a:pt x="55" y="177"/>
                  </a:cubicBezTo>
                  <a:cubicBezTo>
                    <a:pt x="55" y="259"/>
                    <a:pt x="55" y="259"/>
                    <a:pt x="55" y="259"/>
                  </a:cubicBezTo>
                  <a:cubicBezTo>
                    <a:pt x="55" y="266"/>
                    <a:pt x="61" y="271"/>
                    <a:pt x="68" y="271"/>
                  </a:cubicBezTo>
                  <a:cubicBezTo>
                    <a:pt x="74" y="271"/>
                    <a:pt x="80" y="266"/>
                    <a:pt x="80" y="259"/>
                  </a:cubicBezTo>
                  <a:cubicBezTo>
                    <a:pt x="80" y="167"/>
                    <a:pt x="80" y="167"/>
                    <a:pt x="80" y="167"/>
                  </a:cubicBezTo>
                  <a:cubicBezTo>
                    <a:pt x="80" y="165"/>
                    <a:pt x="81" y="163"/>
                    <a:pt x="81" y="161"/>
                  </a:cubicBezTo>
                  <a:cubicBezTo>
                    <a:pt x="81" y="103"/>
                    <a:pt x="81" y="103"/>
                    <a:pt x="81" y="103"/>
                  </a:cubicBezTo>
                  <a:cubicBezTo>
                    <a:pt x="82" y="105"/>
                    <a:pt x="84" y="107"/>
                    <a:pt x="86" y="109"/>
                  </a:cubicBezTo>
                  <a:cubicBezTo>
                    <a:pt x="89" y="113"/>
                    <a:pt x="93" y="117"/>
                    <a:pt x="96" y="120"/>
                  </a:cubicBezTo>
                  <a:cubicBezTo>
                    <a:pt x="97" y="122"/>
                    <a:pt x="99" y="123"/>
                    <a:pt x="100" y="124"/>
                  </a:cubicBezTo>
                  <a:cubicBezTo>
                    <a:pt x="101" y="125"/>
                    <a:pt x="101" y="126"/>
                    <a:pt x="102" y="126"/>
                  </a:cubicBezTo>
                  <a:close/>
                  <a:moveTo>
                    <a:pt x="142" y="208"/>
                  </a:moveTo>
                  <a:cubicBezTo>
                    <a:pt x="142" y="212"/>
                    <a:pt x="145" y="215"/>
                    <a:pt x="148" y="215"/>
                  </a:cubicBezTo>
                  <a:cubicBezTo>
                    <a:pt x="156" y="215"/>
                    <a:pt x="156" y="215"/>
                    <a:pt x="156" y="215"/>
                  </a:cubicBezTo>
                  <a:cubicBezTo>
                    <a:pt x="145" y="262"/>
                    <a:pt x="145" y="262"/>
                    <a:pt x="145" y="262"/>
                  </a:cubicBezTo>
                  <a:cubicBezTo>
                    <a:pt x="144" y="266"/>
                    <a:pt x="147" y="270"/>
                    <a:pt x="150" y="271"/>
                  </a:cubicBezTo>
                  <a:cubicBezTo>
                    <a:pt x="151" y="271"/>
                    <a:pt x="151" y="271"/>
                    <a:pt x="151" y="271"/>
                  </a:cubicBezTo>
                  <a:cubicBezTo>
                    <a:pt x="155" y="272"/>
                    <a:pt x="159" y="270"/>
                    <a:pt x="160" y="266"/>
                  </a:cubicBezTo>
                  <a:cubicBezTo>
                    <a:pt x="172" y="215"/>
                    <a:pt x="172" y="215"/>
                    <a:pt x="172" y="215"/>
                  </a:cubicBezTo>
                  <a:cubicBezTo>
                    <a:pt x="204" y="215"/>
                    <a:pt x="204" y="215"/>
                    <a:pt x="204" y="215"/>
                  </a:cubicBezTo>
                  <a:cubicBezTo>
                    <a:pt x="204" y="240"/>
                    <a:pt x="204" y="240"/>
                    <a:pt x="204" y="240"/>
                  </a:cubicBezTo>
                  <a:cubicBezTo>
                    <a:pt x="204" y="244"/>
                    <a:pt x="207" y="247"/>
                    <a:pt x="211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6" y="247"/>
                    <a:pt x="219" y="244"/>
                    <a:pt x="219" y="240"/>
                  </a:cubicBezTo>
                  <a:cubicBezTo>
                    <a:pt x="219" y="215"/>
                    <a:pt x="219" y="215"/>
                    <a:pt x="219" y="215"/>
                  </a:cubicBezTo>
                  <a:cubicBezTo>
                    <a:pt x="251" y="215"/>
                    <a:pt x="251" y="215"/>
                    <a:pt x="251" y="215"/>
                  </a:cubicBezTo>
                  <a:cubicBezTo>
                    <a:pt x="263" y="266"/>
                    <a:pt x="263" y="266"/>
                    <a:pt x="263" y="266"/>
                  </a:cubicBezTo>
                  <a:cubicBezTo>
                    <a:pt x="264" y="270"/>
                    <a:pt x="268" y="272"/>
                    <a:pt x="272" y="271"/>
                  </a:cubicBezTo>
                  <a:cubicBezTo>
                    <a:pt x="273" y="271"/>
                    <a:pt x="273" y="271"/>
                    <a:pt x="273" y="271"/>
                  </a:cubicBezTo>
                  <a:cubicBezTo>
                    <a:pt x="277" y="270"/>
                    <a:pt x="279" y="266"/>
                    <a:pt x="278" y="262"/>
                  </a:cubicBezTo>
                  <a:cubicBezTo>
                    <a:pt x="267" y="215"/>
                    <a:pt x="267" y="215"/>
                    <a:pt x="267" y="215"/>
                  </a:cubicBezTo>
                  <a:cubicBezTo>
                    <a:pt x="274" y="215"/>
                    <a:pt x="274" y="215"/>
                    <a:pt x="274" y="215"/>
                  </a:cubicBezTo>
                  <a:cubicBezTo>
                    <a:pt x="278" y="215"/>
                    <a:pt x="281" y="212"/>
                    <a:pt x="281" y="208"/>
                  </a:cubicBezTo>
                  <a:cubicBezTo>
                    <a:pt x="281" y="208"/>
                    <a:pt x="281" y="208"/>
                    <a:pt x="281" y="208"/>
                  </a:cubicBezTo>
                  <a:cubicBezTo>
                    <a:pt x="142" y="208"/>
                    <a:pt x="142" y="208"/>
                    <a:pt x="142" y="208"/>
                  </a:cubicBezTo>
                  <a:close/>
                  <a:moveTo>
                    <a:pt x="219" y="8"/>
                  </a:moveTo>
                  <a:cubicBezTo>
                    <a:pt x="219" y="3"/>
                    <a:pt x="216" y="0"/>
                    <a:pt x="212" y="0"/>
                  </a:cubicBezTo>
                  <a:cubicBezTo>
                    <a:pt x="211" y="0"/>
                    <a:pt x="211" y="0"/>
                    <a:pt x="211" y="0"/>
                  </a:cubicBezTo>
                  <a:cubicBezTo>
                    <a:pt x="207" y="0"/>
                    <a:pt x="204" y="3"/>
                    <a:pt x="204" y="8"/>
                  </a:cubicBezTo>
                  <a:cubicBezTo>
                    <a:pt x="204" y="26"/>
                    <a:pt x="204" y="26"/>
                    <a:pt x="204" y="26"/>
                  </a:cubicBezTo>
                  <a:cubicBezTo>
                    <a:pt x="219" y="26"/>
                    <a:pt x="219" y="26"/>
                    <a:pt x="219" y="26"/>
                  </a:cubicBezTo>
                  <a:lnTo>
                    <a:pt x="219" y="8"/>
                  </a:lnTo>
                  <a:close/>
                  <a:moveTo>
                    <a:pt x="311" y="30"/>
                  </a:moveTo>
                  <a:cubicBezTo>
                    <a:pt x="112" y="30"/>
                    <a:pt x="112" y="30"/>
                    <a:pt x="112" y="30"/>
                  </a:cubicBezTo>
                  <a:cubicBezTo>
                    <a:pt x="104" y="30"/>
                    <a:pt x="97" y="37"/>
                    <a:pt x="97" y="45"/>
                  </a:cubicBezTo>
                  <a:cubicBezTo>
                    <a:pt x="97" y="86"/>
                    <a:pt x="97" y="86"/>
                    <a:pt x="97" y="86"/>
                  </a:cubicBezTo>
                  <a:cubicBezTo>
                    <a:pt x="99" y="89"/>
                    <a:pt x="103" y="93"/>
                    <a:pt x="106" y="97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106" y="44"/>
                    <a:pt x="107" y="42"/>
                    <a:pt x="108" y="41"/>
                  </a:cubicBezTo>
                  <a:cubicBezTo>
                    <a:pt x="109" y="40"/>
                    <a:pt x="110" y="39"/>
                    <a:pt x="112" y="39"/>
                  </a:cubicBezTo>
                  <a:cubicBezTo>
                    <a:pt x="311" y="39"/>
                    <a:pt x="311" y="39"/>
                    <a:pt x="311" y="39"/>
                  </a:cubicBezTo>
                  <a:cubicBezTo>
                    <a:pt x="313" y="39"/>
                    <a:pt x="314" y="40"/>
                    <a:pt x="315" y="41"/>
                  </a:cubicBezTo>
                  <a:cubicBezTo>
                    <a:pt x="316" y="42"/>
                    <a:pt x="317" y="44"/>
                    <a:pt x="317" y="45"/>
                  </a:cubicBezTo>
                  <a:cubicBezTo>
                    <a:pt x="317" y="188"/>
                    <a:pt x="317" y="188"/>
                    <a:pt x="317" y="188"/>
                  </a:cubicBezTo>
                  <a:cubicBezTo>
                    <a:pt x="317" y="190"/>
                    <a:pt x="316" y="192"/>
                    <a:pt x="315" y="193"/>
                  </a:cubicBezTo>
                  <a:cubicBezTo>
                    <a:pt x="314" y="194"/>
                    <a:pt x="313" y="194"/>
                    <a:pt x="311" y="194"/>
                  </a:cubicBezTo>
                  <a:cubicBezTo>
                    <a:pt x="112" y="194"/>
                    <a:pt x="112" y="194"/>
                    <a:pt x="112" y="194"/>
                  </a:cubicBezTo>
                  <a:cubicBezTo>
                    <a:pt x="110" y="194"/>
                    <a:pt x="109" y="194"/>
                    <a:pt x="108" y="193"/>
                  </a:cubicBezTo>
                  <a:cubicBezTo>
                    <a:pt x="107" y="192"/>
                    <a:pt x="106" y="190"/>
                    <a:pt x="106" y="188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3"/>
                    <a:pt x="105" y="132"/>
                    <a:pt x="105" y="132"/>
                  </a:cubicBezTo>
                  <a:cubicBezTo>
                    <a:pt x="103" y="132"/>
                    <a:pt x="102" y="131"/>
                    <a:pt x="102" y="131"/>
                  </a:cubicBezTo>
                  <a:cubicBezTo>
                    <a:pt x="101" y="130"/>
                    <a:pt x="100" y="130"/>
                    <a:pt x="100" y="130"/>
                  </a:cubicBezTo>
                  <a:cubicBezTo>
                    <a:pt x="99" y="129"/>
                    <a:pt x="98" y="128"/>
                    <a:pt x="97" y="128"/>
                  </a:cubicBezTo>
                  <a:cubicBezTo>
                    <a:pt x="97" y="128"/>
                    <a:pt x="97" y="127"/>
                    <a:pt x="97" y="127"/>
                  </a:cubicBezTo>
                  <a:cubicBezTo>
                    <a:pt x="97" y="188"/>
                    <a:pt x="97" y="188"/>
                    <a:pt x="97" y="188"/>
                  </a:cubicBezTo>
                  <a:cubicBezTo>
                    <a:pt x="97" y="197"/>
                    <a:pt x="104" y="204"/>
                    <a:pt x="112" y="204"/>
                  </a:cubicBezTo>
                  <a:cubicBezTo>
                    <a:pt x="311" y="204"/>
                    <a:pt x="311" y="204"/>
                    <a:pt x="311" y="204"/>
                  </a:cubicBezTo>
                  <a:cubicBezTo>
                    <a:pt x="319" y="204"/>
                    <a:pt x="326" y="197"/>
                    <a:pt x="326" y="188"/>
                  </a:cubicBezTo>
                  <a:cubicBezTo>
                    <a:pt x="326" y="45"/>
                    <a:pt x="326" y="45"/>
                    <a:pt x="326" y="45"/>
                  </a:cubicBezTo>
                  <a:cubicBezTo>
                    <a:pt x="326" y="37"/>
                    <a:pt x="319" y="30"/>
                    <a:pt x="311" y="3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3AB3D80-12A3-A949-91BA-A63E0BCDA3F9}"/>
              </a:ext>
            </a:extLst>
          </p:cNvPr>
          <p:cNvSpPr txBox="1"/>
          <p:nvPr/>
        </p:nvSpPr>
        <p:spPr>
          <a:xfrm>
            <a:off x="2458231" y="5825143"/>
            <a:ext cx="2333658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分析报表：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60+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图表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7226944-833F-9E40-9CE9-A5A2A71860F3}"/>
              </a:ext>
            </a:extLst>
          </p:cNvPr>
          <p:cNvSpPr/>
          <p:nvPr/>
        </p:nvSpPr>
        <p:spPr>
          <a:xfrm>
            <a:off x="5386827" y="1754230"/>
            <a:ext cx="2880000" cy="432000"/>
          </a:xfrm>
          <a:prstGeom prst="roundRect">
            <a:avLst/>
          </a:prstGeom>
          <a:solidFill>
            <a:srgbClr val="D1F6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过程类指标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3F324CF0-5FE8-B442-A9F5-3D3E845BA98B}"/>
              </a:ext>
            </a:extLst>
          </p:cNvPr>
          <p:cNvSpPr/>
          <p:nvPr/>
        </p:nvSpPr>
        <p:spPr>
          <a:xfrm>
            <a:off x="8999155" y="1754230"/>
            <a:ext cx="2880000" cy="432000"/>
          </a:xfrm>
          <a:prstGeom prst="roundRect">
            <a:avLst/>
          </a:prstGeom>
          <a:solidFill>
            <a:srgbClr val="D1F6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可联类指标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7787F6-CF1C-EF4A-BC15-ACC6BB5C50A5}"/>
              </a:ext>
            </a:extLst>
          </p:cNvPr>
          <p:cNvSpPr txBox="1"/>
          <p:nvPr/>
        </p:nvSpPr>
        <p:spPr>
          <a:xfrm>
            <a:off x="1924100" y="3041540"/>
            <a:ext cx="2333658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账龄表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vintage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数据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6AF9C1F-DE44-7D4B-824F-87ABA19B547C}"/>
              </a:ext>
            </a:extLst>
          </p:cNvPr>
          <p:cNvGrpSpPr/>
          <p:nvPr/>
        </p:nvGrpSpPr>
        <p:grpSpPr>
          <a:xfrm>
            <a:off x="5131142" y="4046837"/>
            <a:ext cx="827999" cy="827999"/>
            <a:chOff x="307838" y="3700843"/>
            <a:chExt cx="1007999" cy="1007999"/>
          </a:xfrm>
        </p:grpSpPr>
        <p:sp>
          <p:nvSpPr>
            <p:cNvPr id="24" name="Rounded Rectangle 93">
              <a:extLst>
                <a:ext uri="{FF2B5EF4-FFF2-40B4-BE49-F238E27FC236}">
                  <a16:creationId xmlns:a16="http://schemas.microsoft.com/office/drawing/2014/main" id="{853653C0-C7DF-BD43-AA80-BA6FEA59E9B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7838" y="3700843"/>
              <a:ext cx="1007999" cy="1007999"/>
            </a:xfrm>
            <a:prstGeom prst="ellipse">
              <a:avLst/>
            </a:prstGeom>
            <a:solidFill>
              <a:srgbClr val="2F5496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  <a:cs typeface="+mn-cs"/>
              </a:endParaRPr>
            </a:p>
          </p:txBody>
        </p:sp>
        <p:sp>
          <p:nvSpPr>
            <p:cNvPr id="25" name="KSO_Shape">
              <a:extLst>
                <a:ext uri="{FF2B5EF4-FFF2-40B4-BE49-F238E27FC236}">
                  <a16:creationId xmlns:a16="http://schemas.microsoft.com/office/drawing/2014/main" id="{12645AE9-912E-874F-AEB7-4A63F888D0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837" y="3944744"/>
              <a:ext cx="612000" cy="520196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F52358-C73A-C842-BA7E-A3397E1A44B7}"/>
              </a:ext>
            </a:extLst>
          </p:cNvPr>
          <p:cNvSpPr txBox="1"/>
          <p:nvPr/>
        </p:nvSpPr>
        <p:spPr>
          <a:xfrm>
            <a:off x="6089999" y="4231382"/>
            <a:ext cx="2333658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月使用次数：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180+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1136C70-D221-D24A-A0C9-582C557CF21A}"/>
              </a:ext>
            </a:extLst>
          </p:cNvPr>
          <p:cNvGrpSpPr/>
          <p:nvPr/>
        </p:nvGrpSpPr>
        <p:grpSpPr>
          <a:xfrm>
            <a:off x="5150583" y="5640598"/>
            <a:ext cx="827999" cy="827999"/>
            <a:chOff x="346719" y="5039462"/>
            <a:chExt cx="1008000" cy="1008000"/>
          </a:xfrm>
        </p:grpSpPr>
        <p:sp>
          <p:nvSpPr>
            <p:cNvPr id="21" name="Rounded Rectangle 93">
              <a:extLst>
                <a:ext uri="{FF2B5EF4-FFF2-40B4-BE49-F238E27FC236}">
                  <a16:creationId xmlns:a16="http://schemas.microsoft.com/office/drawing/2014/main" id="{8FDE079A-E6FF-984A-8C65-95CDCFFB521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6719" y="5039462"/>
              <a:ext cx="1008000" cy="1008000"/>
            </a:xfrm>
            <a:prstGeom prst="ellipse">
              <a:avLst/>
            </a:prstGeom>
            <a:solidFill>
              <a:srgbClr val="2F5496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74DD0DFF-ED2A-0046-B943-B51D6D9BC94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26719" y="5275502"/>
              <a:ext cx="648000" cy="535920"/>
            </a:xfrm>
            <a:custGeom>
              <a:avLst/>
              <a:gdLst>
                <a:gd name="T0" fmla="*/ 170 w 326"/>
                <a:gd name="T1" fmla="*/ 108 h 272"/>
                <a:gd name="T2" fmla="*/ 148 w 326"/>
                <a:gd name="T3" fmla="*/ 160 h 272"/>
                <a:gd name="T4" fmla="*/ 148 w 326"/>
                <a:gd name="T5" fmla="*/ 106 h 272"/>
                <a:gd name="T6" fmla="*/ 206 w 326"/>
                <a:gd name="T7" fmla="*/ 83 h 272"/>
                <a:gd name="T8" fmla="*/ 181 w 326"/>
                <a:gd name="T9" fmla="*/ 83 h 272"/>
                <a:gd name="T10" fmla="*/ 204 w 326"/>
                <a:gd name="T11" fmla="*/ 160 h 272"/>
                <a:gd name="T12" fmla="*/ 242 w 326"/>
                <a:gd name="T13" fmla="*/ 118 h 272"/>
                <a:gd name="T14" fmla="*/ 217 w 326"/>
                <a:gd name="T15" fmla="*/ 118 h 272"/>
                <a:gd name="T16" fmla="*/ 239 w 326"/>
                <a:gd name="T17" fmla="*/ 160 h 272"/>
                <a:gd name="T18" fmla="*/ 277 w 326"/>
                <a:gd name="T19" fmla="*/ 97 h 272"/>
                <a:gd name="T20" fmla="*/ 252 w 326"/>
                <a:gd name="T21" fmla="*/ 97 h 272"/>
                <a:gd name="T22" fmla="*/ 275 w 326"/>
                <a:gd name="T23" fmla="*/ 160 h 272"/>
                <a:gd name="T24" fmla="*/ 73 w 326"/>
                <a:gd name="T25" fmla="*/ 50 h 272"/>
                <a:gd name="T26" fmla="*/ 53 w 326"/>
                <a:gd name="T27" fmla="*/ 14 h 272"/>
                <a:gd name="T28" fmla="*/ 32 w 326"/>
                <a:gd name="T29" fmla="*/ 50 h 272"/>
                <a:gd name="T30" fmla="*/ 106 w 326"/>
                <a:gd name="T31" fmla="*/ 128 h 272"/>
                <a:gd name="T32" fmla="*/ 116 w 326"/>
                <a:gd name="T33" fmla="*/ 127 h 272"/>
                <a:gd name="T34" fmla="*/ 145 w 326"/>
                <a:gd name="T35" fmla="*/ 98 h 272"/>
                <a:gd name="T36" fmla="*/ 165 w 326"/>
                <a:gd name="T37" fmla="*/ 62 h 272"/>
                <a:gd name="T38" fmla="*/ 131 w 326"/>
                <a:gd name="T39" fmla="*/ 86 h 272"/>
                <a:gd name="T40" fmla="*/ 110 w 326"/>
                <a:gd name="T41" fmla="*/ 107 h 272"/>
                <a:gd name="T42" fmla="*/ 89 w 326"/>
                <a:gd name="T43" fmla="*/ 83 h 272"/>
                <a:gd name="T44" fmla="*/ 87 w 326"/>
                <a:gd name="T45" fmla="*/ 80 h 272"/>
                <a:gd name="T46" fmla="*/ 58 w 326"/>
                <a:gd name="T47" fmla="*/ 102 h 272"/>
                <a:gd name="T48" fmla="*/ 54 w 326"/>
                <a:gd name="T49" fmla="*/ 75 h 272"/>
                <a:gd name="T50" fmla="*/ 49 w 326"/>
                <a:gd name="T51" fmla="*/ 84 h 272"/>
                <a:gd name="T52" fmla="*/ 33 w 326"/>
                <a:gd name="T53" fmla="*/ 75 h 272"/>
                <a:gd name="T54" fmla="*/ 2 w 326"/>
                <a:gd name="T55" fmla="*/ 165 h 272"/>
                <a:gd name="T56" fmla="*/ 18 w 326"/>
                <a:gd name="T57" fmla="*/ 133 h 272"/>
                <a:gd name="T58" fmla="*/ 25 w 326"/>
                <a:gd name="T59" fmla="*/ 167 h 272"/>
                <a:gd name="T60" fmla="*/ 49 w 326"/>
                <a:gd name="T61" fmla="*/ 259 h 272"/>
                <a:gd name="T62" fmla="*/ 55 w 326"/>
                <a:gd name="T63" fmla="*/ 259 h 272"/>
                <a:gd name="T64" fmla="*/ 80 w 326"/>
                <a:gd name="T65" fmla="*/ 167 h 272"/>
                <a:gd name="T66" fmla="*/ 86 w 326"/>
                <a:gd name="T67" fmla="*/ 109 h 272"/>
                <a:gd name="T68" fmla="*/ 102 w 326"/>
                <a:gd name="T69" fmla="*/ 126 h 272"/>
                <a:gd name="T70" fmla="*/ 156 w 326"/>
                <a:gd name="T71" fmla="*/ 215 h 272"/>
                <a:gd name="T72" fmla="*/ 151 w 326"/>
                <a:gd name="T73" fmla="*/ 271 h 272"/>
                <a:gd name="T74" fmla="*/ 204 w 326"/>
                <a:gd name="T75" fmla="*/ 215 h 272"/>
                <a:gd name="T76" fmla="*/ 212 w 326"/>
                <a:gd name="T77" fmla="*/ 247 h 272"/>
                <a:gd name="T78" fmla="*/ 251 w 326"/>
                <a:gd name="T79" fmla="*/ 215 h 272"/>
                <a:gd name="T80" fmla="*/ 273 w 326"/>
                <a:gd name="T81" fmla="*/ 271 h 272"/>
                <a:gd name="T82" fmla="*/ 274 w 326"/>
                <a:gd name="T83" fmla="*/ 215 h 272"/>
                <a:gd name="T84" fmla="*/ 142 w 326"/>
                <a:gd name="T85" fmla="*/ 208 h 272"/>
                <a:gd name="T86" fmla="*/ 211 w 326"/>
                <a:gd name="T87" fmla="*/ 0 h 272"/>
                <a:gd name="T88" fmla="*/ 219 w 326"/>
                <a:gd name="T89" fmla="*/ 26 h 272"/>
                <a:gd name="T90" fmla="*/ 112 w 326"/>
                <a:gd name="T91" fmla="*/ 30 h 272"/>
                <a:gd name="T92" fmla="*/ 106 w 326"/>
                <a:gd name="T93" fmla="*/ 97 h 272"/>
                <a:gd name="T94" fmla="*/ 112 w 326"/>
                <a:gd name="T95" fmla="*/ 39 h 272"/>
                <a:gd name="T96" fmla="*/ 317 w 326"/>
                <a:gd name="T97" fmla="*/ 45 h 272"/>
                <a:gd name="T98" fmla="*/ 311 w 326"/>
                <a:gd name="T99" fmla="*/ 194 h 272"/>
                <a:gd name="T100" fmla="*/ 106 w 326"/>
                <a:gd name="T101" fmla="*/ 188 h 272"/>
                <a:gd name="T102" fmla="*/ 102 w 326"/>
                <a:gd name="T103" fmla="*/ 131 h 272"/>
                <a:gd name="T104" fmla="*/ 97 w 326"/>
                <a:gd name="T105" fmla="*/ 127 h 272"/>
                <a:gd name="T106" fmla="*/ 311 w 326"/>
                <a:gd name="T107" fmla="*/ 204 h 272"/>
                <a:gd name="T108" fmla="*/ 311 w 326"/>
                <a:gd name="T109" fmla="*/ 3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6" h="272">
                  <a:moveTo>
                    <a:pt x="148" y="106"/>
                  </a:move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70" y="107"/>
                    <a:pt x="170" y="108"/>
                  </a:cubicBezTo>
                  <a:cubicBezTo>
                    <a:pt x="170" y="158"/>
                    <a:pt x="170" y="158"/>
                    <a:pt x="170" y="158"/>
                  </a:cubicBezTo>
                  <a:cubicBezTo>
                    <a:pt x="170" y="159"/>
                    <a:pt x="169" y="160"/>
                    <a:pt x="168" y="160"/>
                  </a:cubicBezTo>
                  <a:cubicBezTo>
                    <a:pt x="148" y="160"/>
                    <a:pt x="148" y="160"/>
                    <a:pt x="148" y="160"/>
                  </a:cubicBezTo>
                  <a:cubicBezTo>
                    <a:pt x="147" y="160"/>
                    <a:pt x="146" y="159"/>
                    <a:pt x="146" y="158"/>
                  </a:cubicBezTo>
                  <a:cubicBezTo>
                    <a:pt x="146" y="108"/>
                    <a:pt x="146" y="108"/>
                    <a:pt x="146" y="108"/>
                  </a:cubicBezTo>
                  <a:cubicBezTo>
                    <a:pt x="146" y="107"/>
                    <a:pt x="147" y="106"/>
                    <a:pt x="148" y="106"/>
                  </a:cubicBezTo>
                  <a:close/>
                  <a:moveTo>
                    <a:pt x="204" y="160"/>
                  </a:moveTo>
                  <a:cubicBezTo>
                    <a:pt x="205" y="160"/>
                    <a:pt x="206" y="159"/>
                    <a:pt x="206" y="158"/>
                  </a:cubicBezTo>
                  <a:cubicBezTo>
                    <a:pt x="206" y="83"/>
                    <a:pt x="206" y="83"/>
                    <a:pt x="206" y="83"/>
                  </a:cubicBezTo>
                  <a:cubicBezTo>
                    <a:pt x="206" y="82"/>
                    <a:pt x="205" y="81"/>
                    <a:pt x="204" y="81"/>
                  </a:cubicBezTo>
                  <a:cubicBezTo>
                    <a:pt x="183" y="81"/>
                    <a:pt x="183" y="81"/>
                    <a:pt x="183" y="81"/>
                  </a:cubicBezTo>
                  <a:cubicBezTo>
                    <a:pt x="182" y="81"/>
                    <a:pt x="181" y="82"/>
                    <a:pt x="181" y="83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1" y="159"/>
                    <a:pt x="182" y="160"/>
                    <a:pt x="183" y="160"/>
                  </a:cubicBezTo>
                  <a:lnTo>
                    <a:pt x="204" y="160"/>
                  </a:lnTo>
                  <a:close/>
                  <a:moveTo>
                    <a:pt x="239" y="160"/>
                  </a:moveTo>
                  <a:cubicBezTo>
                    <a:pt x="241" y="160"/>
                    <a:pt x="242" y="159"/>
                    <a:pt x="242" y="158"/>
                  </a:cubicBezTo>
                  <a:cubicBezTo>
                    <a:pt x="242" y="118"/>
                    <a:pt x="242" y="118"/>
                    <a:pt x="242" y="118"/>
                  </a:cubicBezTo>
                  <a:cubicBezTo>
                    <a:pt x="242" y="117"/>
                    <a:pt x="241" y="116"/>
                    <a:pt x="239" y="116"/>
                  </a:cubicBezTo>
                  <a:cubicBezTo>
                    <a:pt x="219" y="116"/>
                    <a:pt x="219" y="116"/>
                    <a:pt x="219" y="116"/>
                  </a:cubicBezTo>
                  <a:cubicBezTo>
                    <a:pt x="218" y="116"/>
                    <a:pt x="217" y="117"/>
                    <a:pt x="217" y="118"/>
                  </a:cubicBezTo>
                  <a:cubicBezTo>
                    <a:pt x="217" y="158"/>
                    <a:pt x="217" y="158"/>
                    <a:pt x="217" y="158"/>
                  </a:cubicBezTo>
                  <a:cubicBezTo>
                    <a:pt x="217" y="159"/>
                    <a:pt x="218" y="160"/>
                    <a:pt x="219" y="160"/>
                  </a:cubicBezTo>
                  <a:lnTo>
                    <a:pt x="239" y="160"/>
                  </a:lnTo>
                  <a:close/>
                  <a:moveTo>
                    <a:pt x="275" y="160"/>
                  </a:moveTo>
                  <a:cubicBezTo>
                    <a:pt x="276" y="160"/>
                    <a:pt x="277" y="159"/>
                    <a:pt x="277" y="158"/>
                  </a:cubicBezTo>
                  <a:cubicBezTo>
                    <a:pt x="277" y="97"/>
                    <a:pt x="277" y="97"/>
                    <a:pt x="277" y="97"/>
                  </a:cubicBezTo>
                  <a:cubicBezTo>
                    <a:pt x="277" y="96"/>
                    <a:pt x="276" y="95"/>
                    <a:pt x="275" y="95"/>
                  </a:cubicBezTo>
                  <a:cubicBezTo>
                    <a:pt x="255" y="95"/>
                    <a:pt x="255" y="95"/>
                    <a:pt x="255" y="95"/>
                  </a:cubicBezTo>
                  <a:cubicBezTo>
                    <a:pt x="253" y="95"/>
                    <a:pt x="252" y="96"/>
                    <a:pt x="252" y="97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52" y="159"/>
                    <a:pt x="253" y="160"/>
                    <a:pt x="255" y="160"/>
                  </a:cubicBezTo>
                  <a:lnTo>
                    <a:pt x="275" y="160"/>
                  </a:lnTo>
                  <a:close/>
                  <a:moveTo>
                    <a:pt x="32" y="50"/>
                  </a:moveTo>
                  <a:cubicBezTo>
                    <a:pt x="35" y="60"/>
                    <a:pt x="42" y="69"/>
                    <a:pt x="53" y="69"/>
                  </a:cubicBezTo>
                  <a:cubicBezTo>
                    <a:pt x="63" y="69"/>
                    <a:pt x="70" y="60"/>
                    <a:pt x="73" y="50"/>
                  </a:cubicBezTo>
                  <a:cubicBezTo>
                    <a:pt x="76" y="48"/>
                    <a:pt x="78" y="44"/>
                    <a:pt x="77" y="41"/>
                  </a:cubicBezTo>
                  <a:cubicBezTo>
                    <a:pt x="77" y="38"/>
                    <a:pt x="76" y="37"/>
                    <a:pt x="74" y="37"/>
                  </a:cubicBezTo>
                  <a:cubicBezTo>
                    <a:pt x="74" y="24"/>
                    <a:pt x="65" y="14"/>
                    <a:pt x="53" y="14"/>
                  </a:cubicBezTo>
                  <a:cubicBezTo>
                    <a:pt x="40" y="14"/>
                    <a:pt x="32" y="24"/>
                    <a:pt x="31" y="37"/>
                  </a:cubicBezTo>
                  <a:cubicBezTo>
                    <a:pt x="29" y="37"/>
                    <a:pt x="28" y="38"/>
                    <a:pt x="27" y="41"/>
                  </a:cubicBezTo>
                  <a:cubicBezTo>
                    <a:pt x="27" y="44"/>
                    <a:pt x="29" y="49"/>
                    <a:pt x="32" y="50"/>
                  </a:cubicBezTo>
                  <a:close/>
                  <a:moveTo>
                    <a:pt x="102" y="126"/>
                  </a:moveTo>
                  <a:cubicBezTo>
                    <a:pt x="103" y="127"/>
                    <a:pt x="103" y="127"/>
                    <a:pt x="104" y="127"/>
                  </a:cubicBezTo>
                  <a:cubicBezTo>
                    <a:pt x="104" y="128"/>
                    <a:pt x="105" y="128"/>
                    <a:pt x="106" y="128"/>
                  </a:cubicBezTo>
                  <a:cubicBezTo>
                    <a:pt x="107" y="129"/>
                    <a:pt x="108" y="129"/>
                    <a:pt x="109" y="129"/>
                  </a:cubicBezTo>
                  <a:cubicBezTo>
                    <a:pt x="110" y="129"/>
                    <a:pt x="111" y="128"/>
                    <a:pt x="112" y="128"/>
                  </a:cubicBezTo>
                  <a:cubicBezTo>
                    <a:pt x="114" y="128"/>
                    <a:pt x="115" y="127"/>
                    <a:pt x="116" y="127"/>
                  </a:cubicBezTo>
                  <a:cubicBezTo>
                    <a:pt x="117" y="126"/>
                    <a:pt x="118" y="125"/>
                    <a:pt x="120" y="124"/>
                  </a:cubicBezTo>
                  <a:cubicBezTo>
                    <a:pt x="122" y="121"/>
                    <a:pt x="125" y="119"/>
                    <a:pt x="128" y="116"/>
                  </a:cubicBezTo>
                  <a:cubicBezTo>
                    <a:pt x="136" y="108"/>
                    <a:pt x="145" y="98"/>
                    <a:pt x="145" y="98"/>
                  </a:cubicBezTo>
                  <a:cubicBezTo>
                    <a:pt x="148" y="95"/>
                    <a:pt x="148" y="89"/>
                    <a:pt x="145" y="85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6" y="65"/>
                    <a:pt x="166" y="63"/>
                    <a:pt x="165" y="62"/>
                  </a:cubicBezTo>
                  <a:cubicBezTo>
                    <a:pt x="164" y="61"/>
                    <a:pt x="162" y="61"/>
                    <a:pt x="161" y="62"/>
                  </a:cubicBezTo>
                  <a:cubicBezTo>
                    <a:pt x="139" y="83"/>
                    <a:pt x="139" y="83"/>
                    <a:pt x="139" y="83"/>
                  </a:cubicBezTo>
                  <a:cubicBezTo>
                    <a:pt x="136" y="82"/>
                    <a:pt x="133" y="83"/>
                    <a:pt x="13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29" y="87"/>
                    <a:pt x="123" y="94"/>
                    <a:pt x="117" y="100"/>
                  </a:cubicBezTo>
                  <a:cubicBezTo>
                    <a:pt x="115" y="103"/>
                    <a:pt x="112" y="105"/>
                    <a:pt x="110" y="107"/>
                  </a:cubicBezTo>
                  <a:cubicBezTo>
                    <a:pt x="108" y="106"/>
                    <a:pt x="106" y="104"/>
                    <a:pt x="105" y="102"/>
                  </a:cubicBezTo>
                  <a:cubicBezTo>
                    <a:pt x="101" y="97"/>
                    <a:pt x="96" y="92"/>
                    <a:pt x="93" y="88"/>
                  </a:cubicBezTo>
                  <a:cubicBezTo>
                    <a:pt x="91" y="86"/>
                    <a:pt x="90" y="84"/>
                    <a:pt x="89" y="83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1"/>
                    <a:pt x="87" y="81"/>
                    <a:pt x="87" y="81"/>
                  </a:cubicBezTo>
                  <a:cubicBezTo>
                    <a:pt x="87" y="81"/>
                    <a:pt x="87" y="81"/>
                    <a:pt x="87" y="80"/>
                  </a:cubicBezTo>
                  <a:cubicBezTo>
                    <a:pt x="86" y="79"/>
                    <a:pt x="83" y="77"/>
                    <a:pt x="73" y="74"/>
                  </a:cubicBezTo>
                  <a:cubicBezTo>
                    <a:pt x="71" y="74"/>
                    <a:pt x="69" y="73"/>
                    <a:pt x="67" y="73"/>
                  </a:cubicBezTo>
                  <a:cubicBezTo>
                    <a:pt x="66" y="77"/>
                    <a:pt x="65" y="88"/>
                    <a:pt x="58" y="102"/>
                  </a:cubicBezTo>
                  <a:cubicBezTo>
                    <a:pt x="57" y="93"/>
                    <a:pt x="55" y="85"/>
                    <a:pt x="55" y="84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9" y="85"/>
                    <a:pt x="48" y="93"/>
                    <a:pt x="47" y="102"/>
                  </a:cubicBezTo>
                  <a:cubicBezTo>
                    <a:pt x="40" y="88"/>
                    <a:pt x="38" y="77"/>
                    <a:pt x="38" y="73"/>
                  </a:cubicBezTo>
                  <a:cubicBezTo>
                    <a:pt x="36" y="73"/>
                    <a:pt x="34" y="74"/>
                    <a:pt x="33" y="75"/>
                  </a:cubicBezTo>
                  <a:cubicBezTo>
                    <a:pt x="27" y="76"/>
                    <a:pt x="18" y="79"/>
                    <a:pt x="14" y="82"/>
                  </a:cubicBezTo>
                  <a:cubicBezTo>
                    <a:pt x="11" y="84"/>
                    <a:pt x="3" y="96"/>
                    <a:pt x="0" y="132"/>
                  </a:cubicBezTo>
                  <a:cubicBezTo>
                    <a:pt x="0" y="143"/>
                    <a:pt x="2" y="165"/>
                    <a:pt x="2" y="165"/>
                  </a:cubicBezTo>
                  <a:cubicBezTo>
                    <a:pt x="3" y="171"/>
                    <a:pt x="4" y="176"/>
                    <a:pt x="10" y="176"/>
                  </a:cubicBezTo>
                  <a:cubicBezTo>
                    <a:pt x="17" y="177"/>
                    <a:pt x="19" y="172"/>
                    <a:pt x="19" y="166"/>
                  </a:cubicBezTo>
                  <a:cubicBezTo>
                    <a:pt x="19" y="166"/>
                    <a:pt x="17" y="148"/>
                    <a:pt x="18" y="133"/>
                  </a:cubicBezTo>
                  <a:cubicBezTo>
                    <a:pt x="19" y="121"/>
                    <a:pt x="22" y="104"/>
                    <a:pt x="24" y="103"/>
                  </a:cubicBezTo>
                  <a:cubicBezTo>
                    <a:pt x="24" y="103"/>
                    <a:pt x="24" y="161"/>
                    <a:pt x="24" y="161"/>
                  </a:cubicBezTo>
                  <a:cubicBezTo>
                    <a:pt x="24" y="163"/>
                    <a:pt x="24" y="165"/>
                    <a:pt x="25" y="167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5" y="266"/>
                    <a:pt x="30" y="271"/>
                    <a:pt x="37" y="271"/>
                  </a:cubicBezTo>
                  <a:cubicBezTo>
                    <a:pt x="44" y="271"/>
                    <a:pt x="49" y="266"/>
                    <a:pt x="49" y="259"/>
                  </a:cubicBezTo>
                  <a:cubicBezTo>
                    <a:pt x="49" y="177"/>
                    <a:pt x="49" y="177"/>
                    <a:pt x="49" y="177"/>
                  </a:cubicBezTo>
                  <a:cubicBezTo>
                    <a:pt x="55" y="177"/>
                    <a:pt x="55" y="177"/>
                    <a:pt x="55" y="177"/>
                  </a:cubicBezTo>
                  <a:cubicBezTo>
                    <a:pt x="55" y="259"/>
                    <a:pt x="55" y="259"/>
                    <a:pt x="55" y="259"/>
                  </a:cubicBezTo>
                  <a:cubicBezTo>
                    <a:pt x="55" y="266"/>
                    <a:pt x="61" y="271"/>
                    <a:pt x="68" y="271"/>
                  </a:cubicBezTo>
                  <a:cubicBezTo>
                    <a:pt x="74" y="271"/>
                    <a:pt x="80" y="266"/>
                    <a:pt x="80" y="259"/>
                  </a:cubicBezTo>
                  <a:cubicBezTo>
                    <a:pt x="80" y="167"/>
                    <a:pt x="80" y="167"/>
                    <a:pt x="80" y="167"/>
                  </a:cubicBezTo>
                  <a:cubicBezTo>
                    <a:pt x="80" y="165"/>
                    <a:pt x="81" y="163"/>
                    <a:pt x="81" y="161"/>
                  </a:cubicBezTo>
                  <a:cubicBezTo>
                    <a:pt x="81" y="103"/>
                    <a:pt x="81" y="103"/>
                    <a:pt x="81" y="103"/>
                  </a:cubicBezTo>
                  <a:cubicBezTo>
                    <a:pt x="82" y="105"/>
                    <a:pt x="84" y="107"/>
                    <a:pt x="86" y="109"/>
                  </a:cubicBezTo>
                  <a:cubicBezTo>
                    <a:pt x="89" y="113"/>
                    <a:pt x="93" y="117"/>
                    <a:pt x="96" y="120"/>
                  </a:cubicBezTo>
                  <a:cubicBezTo>
                    <a:pt x="97" y="122"/>
                    <a:pt x="99" y="123"/>
                    <a:pt x="100" y="124"/>
                  </a:cubicBezTo>
                  <a:cubicBezTo>
                    <a:pt x="101" y="125"/>
                    <a:pt x="101" y="126"/>
                    <a:pt x="102" y="126"/>
                  </a:cubicBezTo>
                  <a:close/>
                  <a:moveTo>
                    <a:pt x="142" y="208"/>
                  </a:moveTo>
                  <a:cubicBezTo>
                    <a:pt x="142" y="212"/>
                    <a:pt x="145" y="215"/>
                    <a:pt x="148" y="215"/>
                  </a:cubicBezTo>
                  <a:cubicBezTo>
                    <a:pt x="156" y="215"/>
                    <a:pt x="156" y="215"/>
                    <a:pt x="156" y="215"/>
                  </a:cubicBezTo>
                  <a:cubicBezTo>
                    <a:pt x="145" y="262"/>
                    <a:pt x="145" y="262"/>
                    <a:pt x="145" y="262"/>
                  </a:cubicBezTo>
                  <a:cubicBezTo>
                    <a:pt x="144" y="266"/>
                    <a:pt x="147" y="270"/>
                    <a:pt x="150" y="271"/>
                  </a:cubicBezTo>
                  <a:cubicBezTo>
                    <a:pt x="151" y="271"/>
                    <a:pt x="151" y="271"/>
                    <a:pt x="151" y="271"/>
                  </a:cubicBezTo>
                  <a:cubicBezTo>
                    <a:pt x="155" y="272"/>
                    <a:pt x="159" y="270"/>
                    <a:pt x="160" y="266"/>
                  </a:cubicBezTo>
                  <a:cubicBezTo>
                    <a:pt x="172" y="215"/>
                    <a:pt x="172" y="215"/>
                    <a:pt x="172" y="215"/>
                  </a:cubicBezTo>
                  <a:cubicBezTo>
                    <a:pt x="204" y="215"/>
                    <a:pt x="204" y="215"/>
                    <a:pt x="204" y="215"/>
                  </a:cubicBezTo>
                  <a:cubicBezTo>
                    <a:pt x="204" y="240"/>
                    <a:pt x="204" y="240"/>
                    <a:pt x="204" y="240"/>
                  </a:cubicBezTo>
                  <a:cubicBezTo>
                    <a:pt x="204" y="244"/>
                    <a:pt x="207" y="247"/>
                    <a:pt x="211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6" y="247"/>
                    <a:pt x="219" y="244"/>
                    <a:pt x="219" y="240"/>
                  </a:cubicBezTo>
                  <a:cubicBezTo>
                    <a:pt x="219" y="215"/>
                    <a:pt x="219" y="215"/>
                    <a:pt x="219" y="215"/>
                  </a:cubicBezTo>
                  <a:cubicBezTo>
                    <a:pt x="251" y="215"/>
                    <a:pt x="251" y="215"/>
                    <a:pt x="251" y="215"/>
                  </a:cubicBezTo>
                  <a:cubicBezTo>
                    <a:pt x="263" y="266"/>
                    <a:pt x="263" y="266"/>
                    <a:pt x="263" y="266"/>
                  </a:cubicBezTo>
                  <a:cubicBezTo>
                    <a:pt x="264" y="270"/>
                    <a:pt x="268" y="272"/>
                    <a:pt x="272" y="271"/>
                  </a:cubicBezTo>
                  <a:cubicBezTo>
                    <a:pt x="273" y="271"/>
                    <a:pt x="273" y="271"/>
                    <a:pt x="273" y="271"/>
                  </a:cubicBezTo>
                  <a:cubicBezTo>
                    <a:pt x="277" y="270"/>
                    <a:pt x="279" y="266"/>
                    <a:pt x="278" y="262"/>
                  </a:cubicBezTo>
                  <a:cubicBezTo>
                    <a:pt x="267" y="215"/>
                    <a:pt x="267" y="215"/>
                    <a:pt x="267" y="215"/>
                  </a:cubicBezTo>
                  <a:cubicBezTo>
                    <a:pt x="274" y="215"/>
                    <a:pt x="274" y="215"/>
                    <a:pt x="274" y="215"/>
                  </a:cubicBezTo>
                  <a:cubicBezTo>
                    <a:pt x="278" y="215"/>
                    <a:pt x="281" y="212"/>
                    <a:pt x="281" y="208"/>
                  </a:cubicBezTo>
                  <a:cubicBezTo>
                    <a:pt x="281" y="208"/>
                    <a:pt x="281" y="208"/>
                    <a:pt x="281" y="208"/>
                  </a:cubicBezTo>
                  <a:cubicBezTo>
                    <a:pt x="142" y="208"/>
                    <a:pt x="142" y="208"/>
                    <a:pt x="142" y="208"/>
                  </a:cubicBezTo>
                  <a:close/>
                  <a:moveTo>
                    <a:pt x="219" y="8"/>
                  </a:moveTo>
                  <a:cubicBezTo>
                    <a:pt x="219" y="3"/>
                    <a:pt x="216" y="0"/>
                    <a:pt x="212" y="0"/>
                  </a:cubicBezTo>
                  <a:cubicBezTo>
                    <a:pt x="211" y="0"/>
                    <a:pt x="211" y="0"/>
                    <a:pt x="211" y="0"/>
                  </a:cubicBezTo>
                  <a:cubicBezTo>
                    <a:pt x="207" y="0"/>
                    <a:pt x="204" y="3"/>
                    <a:pt x="204" y="8"/>
                  </a:cubicBezTo>
                  <a:cubicBezTo>
                    <a:pt x="204" y="26"/>
                    <a:pt x="204" y="26"/>
                    <a:pt x="204" y="26"/>
                  </a:cubicBezTo>
                  <a:cubicBezTo>
                    <a:pt x="219" y="26"/>
                    <a:pt x="219" y="26"/>
                    <a:pt x="219" y="26"/>
                  </a:cubicBezTo>
                  <a:lnTo>
                    <a:pt x="219" y="8"/>
                  </a:lnTo>
                  <a:close/>
                  <a:moveTo>
                    <a:pt x="311" y="30"/>
                  </a:moveTo>
                  <a:cubicBezTo>
                    <a:pt x="112" y="30"/>
                    <a:pt x="112" y="30"/>
                    <a:pt x="112" y="30"/>
                  </a:cubicBezTo>
                  <a:cubicBezTo>
                    <a:pt x="104" y="30"/>
                    <a:pt x="97" y="37"/>
                    <a:pt x="97" y="45"/>
                  </a:cubicBezTo>
                  <a:cubicBezTo>
                    <a:pt x="97" y="86"/>
                    <a:pt x="97" y="86"/>
                    <a:pt x="97" y="86"/>
                  </a:cubicBezTo>
                  <a:cubicBezTo>
                    <a:pt x="99" y="89"/>
                    <a:pt x="103" y="93"/>
                    <a:pt x="106" y="97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106" y="44"/>
                    <a:pt x="107" y="42"/>
                    <a:pt x="108" y="41"/>
                  </a:cubicBezTo>
                  <a:cubicBezTo>
                    <a:pt x="109" y="40"/>
                    <a:pt x="110" y="39"/>
                    <a:pt x="112" y="39"/>
                  </a:cubicBezTo>
                  <a:cubicBezTo>
                    <a:pt x="311" y="39"/>
                    <a:pt x="311" y="39"/>
                    <a:pt x="311" y="39"/>
                  </a:cubicBezTo>
                  <a:cubicBezTo>
                    <a:pt x="313" y="39"/>
                    <a:pt x="314" y="40"/>
                    <a:pt x="315" y="41"/>
                  </a:cubicBezTo>
                  <a:cubicBezTo>
                    <a:pt x="316" y="42"/>
                    <a:pt x="317" y="44"/>
                    <a:pt x="317" y="45"/>
                  </a:cubicBezTo>
                  <a:cubicBezTo>
                    <a:pt x="317" y="188"/>
                    <a:pt x="317" y="188"/>
                    <a:pt x="317" y="188"/>
                  </a:cubicBezTo>
                  <a:cubicBezTo>
                    <a:pt x="317" y="190"/>
                    <a:pt x="316" y="192"/>
                    <a:pt x="315" y="193"/>
                  </a:cubicBezTo>
                  <a:cubicBezTo>
                    <a:pt x="314" y="194"/>
                    <a:pt x="313" y="194"/>
                    <a:pt x="311" y="194"/>
                  </a:cubicBezTo>
                  <a:cubicBezTo>
                    <a:pt x="112" y="194"/>
                    <a:pt x="112" y="194"/>
                    <a:pt x="112" y="194"/>
                  </a:cubicBezTo>
                  <a:cubicBezTo>
                    <a:pt x="110" y="194"/>
                    <a:pt x="109" y="194"/>
                    <a:pt x="108" y="193"/>
                  </a:cubicBezTo>
                  <a:cubicBezTo>
                    <a:pt x="107" y="192"/>
                    <a:pt x="106" y="190"/>
                    <a:pt x="106" y="188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3"/>
                    <a:pt x="105" y="132"/>
                    <a:pt x="105" y="132"/>
                  </a:cubicBezTo>
                  <a:cubicBezTo>
                    <a:pt x="103" y="132"/>
                    <a:pt x="102" y="131"/>
                    <a:pt x="102" y="131"/>
                  </a:cubicBezTo>
                  <a:cubicBezTo>
                    <a:pt x="101" y="130"/>
                    <a:pt x="100" y="130"/>
                    <a:pt x="100" y="130"/>
                  </a:cubicBezTo>
                  <a:cubicBezTo>
                    <a:pt x="99" y="129"/>
                    <a:pt x="98" y="128"/>
                    <a:pt x="97" y="128"/>
                  </a:cubicBezTo>
                  <a:cubicBezTo>
                    <a:pt x="97" y="128"/>
                    <a:pt x="97" y="127"/>
                    <a:pt x="97" y="127"/>
                  </a:cubicBezTo>
                  <a:cubicBezTo>
                    <a:pt x="97" y="188"/>
                    <a:pt x="97" y="188"/>
                    <a:pt x="97" y="188"/>
                  </a:cubicBezTo>
                  <a:cubicBezTo>
                    <a:pt x="97" y="197"/>
                    <a:pt x="104" y="204"/>
                    <a:pt x="112" y="204"/>
                  </a:cubicBezTo>
                  <a:cubicBezTo>
                    <a:pt x="311" y="204"/>
                    <a:pt x="311" y="204"/>
                    <a:pt x="311" y="204"/>
                  </a:cubicBezTo>
                  <a:cubicBezTo>
                    <a:pt x="319" y="204"/>
                    <a:pt x="326" y="197"/>
                    <a:pt x="326" y="188"/>
                  </a:cubicBezTo>
                  <a:cubicBezTo>
                    <a:pt x="326" y="45"/>
                    <a:pt x="326" y="45"/>
                    <a:pt x="326" y="45"/>
                  </a:cubicBezTo>
                  <a:cubicBezTo>
                    <a:pt x="326" y="37"/>
                    <a:pt x="319" y="30"/>
                    <a:pt x="311" y="3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2C27535B-1F27-7E49-A37B-11E228AD0829}"/>
              </a:ext>
            </a:extLst>
          </p:cNvPr>
          <p:cNvSpPr txBox="1"/>
          <p:nvPr/>
        </p:nvSpPr>
        <p:spPr>
          <a:xfrm>
            <a:off x="6070559" y="5825143"/>
            <a:ext cx="2333658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分析报表：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50+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图表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8049D6E-0D0B-1944-AFCD-ABAF436FA9E4}"/>
              </a:ext>
            </a:extLst>
          </p:cNvPr>
          <p:cNvGrpSpPr/>
          <p:nvPr/>
        </p:nvGrpSpPr>
        <p:grpSpPr>
          <a:xfrm>
            <a:off x="8743470" y="4046837"/>
            <a:ext cx="827999" cy="827999"/>
            <a:chOff x="307838" y="3700843"/>
            <a:chExt cx="1007999" cy="1007999"/>
          </a:xfrm>
        </p:grpSpPr>
        <p:sp>
          <p:nvSpPr>
            <p:cNvPr id="32" name="Rounded Rectangle 93">
              <a:extLst>
                <a:ext uri="{FF2B5EF4-FFF2-40B4-BE49-F238E27FC236}">
                  <a16:creationId xmlns:a16="http://schemas.microsoft.com/office/drawing/2014/main" id="{3B640AD2-E79E-AD4C-816C-9E4BE0581F7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07838" y="3700843"/>
              <a:ext cx="1007999" cy="1007999"/>
            </a:xfrm>
            <a:prstGeom prst="ellipse">
              <a:avLst/>
            </a:prstGeom>
            <a:solidFill>
              <a:srgbClr val="2F5496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  <a:cs typeface="+mn-cs"/>
              </a:endParaRPr>
            </a:p>
          </p:txBody>
        </p:sp>
        <p:sp>
          <p:nvSpPr>
            <p:cNvPr id="33" name="KSO_Shape">
              <a:extLst>
                <a:ext uri="{FF2B5EF4-FFF2-40B4-BE49-F238E27FC236}">
                  <a16:creationId xmlns:a16="http://schemas.microsoft.com/office/drawing/2014/main" id="{9504D864-B163-D146-83F1-F475D23EF5C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837" y="3944744"/>
              <a:ext cx="612000" cy="520196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7A1A689D-442A-A34A-BDEA-416861D2FD1E}"/>
              </a:ext>
            </a:extLst>
          </p:cNvPr>
          <p:cNvSpPr txBox="1"/>
          <p:nvPr/>
        </p:nvSpPr>
        <p:spPr>
          <a:xfrm>
            <a:off x="9702327" y="4231382"/>
            <a:ext cx="2333658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月使用次数：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100+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D73F625-679C-BB44-A1C0-528F4D461814}"/>
              </a:ext>
            </a:extLst>
          </p:cNvPr>
          <p:cNvGrpSpPr/>
          <p:nvPr/>
        </p:nvGrpSpPr>
        <p:grpSpPr>
          <a:xfrm>
            <a:off x="8762911" y="5640598"/>
            <a:ext cx="827999" cy="827999"/>
            <a:chOff x="346719" y="5039462"/>
            <a:chExt cx="1008000" cy="1008000"/>
          </a:xfrm>
        </p:grpSpPr>
        <p:sp>
          <p:nvSpPr>
            <p:cNvPr id="29" name="Rounded Rectangle 93">
              <a:extLst>
                <a:ext uri="{FF2B5EF4-FFF2-40B4-BE49-F238E27FC236}">
                  <a16:creationId xmlns:a16="http://schemas.microsoft.com/office/drawing/2014/main" id="{2116CC04-9522-EF4B-AB32-4EABBAA8E25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6719" y="5039462"/>
              <a:ext cx="1008000" cy="1008000"/>
            </a:xfrm>
            <a:prstGeom prst="ellipse">
              <a:avLst/>
            </a:prstGeom>
            <a:solidFill>
              <a:srgbClr val="2F5496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  <a:cs typeface="+mn-cs"/>
              </a:endParaRPr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3A1B87D0-2EBA-8840-A2B7-979CFF74E36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26719" y="5275502"/>
              <a:ext cx="648000" cy="535920"/>
            </a:xfrm>
            <a:custGeom>
              <a:avLst/>
              <a:gdLst>
                <a:gd name="T0" fmla="*/ 170 w 326"/>
                <a:gd name="T1" fmla="*/ 108 h 272"/>
                <a:gd name="T2" fmla="*/ 148 w 326"/>
                <a:gd name="T3" fmla="*/ 160 h 272"/>
                <a:gd name="T4" fmla="*/ 148 w 326"/>
                <a:gd name="T5" fmla="*/ 106 h 272"/>
                <a:gd name="T6" fmla="*/ 206 w 326"/>
                <a:gd name="T7" fmla="*/ 83 h 272"/>
                <a:gd name="T8" fmla="*/ 181 w 326"/>
                <a:gd name="T9" fmla="*/ 83 h 272"/>
                <a:gd name="T10" fmla="*/ 204 w 326"/>
                <a:gd name="T11" fmla="*/ 160 h 272"/>
                <a:gd name="T12" fmla="*/ 242 w 326"/>
                <a:gd name="T13" fmla="*/ 118 h 272"/>
                <a:gd name="T14" fmla="*/ 217 w 326"/>
                <a:gd name="T15" fmla="*/ 118 h 272"/>
                <a:gd name="T16" fmla="*/ 239 w 326"/>
                <a:gd name="T17" fmla="*/ 160 h 272"/>
                <a:gd name="T18" fmla="*/ 277 w 326"/>
                <a:gd name="T19" fmla="*/ 97 h 272"/>
                <a:gd name="T20" fmla="*/ 252 w 326"/>
                <a:gd name="T21" fmla="*/ 97 h 272"/>
                <a:gd name="T22" fmla="*/ 275 w 326"/>
                <a:gd name="T23" fmla="*/ 160 h 272"/>
                <a:gd name="T24" fmla="*/ 73 w 326"/>
                <a:gd name="T25" fmla="*/ 50 h 272"/>
                <a:gd name="T26" fmla="*/ 53 w 326"/>
                <a:gd name="T27" fmla="*/ 14 h 272"/>
                <a:gd name="T28" fmla="*/ 32 w 326"/>
                <a:gd name="T29" fmla="*/ 50 h 272"/>
                <a:gd name="T30" fmla="*/ 106 w 326"/>
                <a:gd name="T31" fmla="*/ 128 h 272"/>
                <a:gd name="T32" fmla="*/ 116 w 326"/>
                <a:gd name="T33" fmla="*/ 127 h 272"/>
                <a:gd name="T34" fmla="*/ 145 w 326"/>
                <a:gd name="T35" fmla="*/ 98 h 272"/>
                <a:gd name="T36" fmla="*/ 165 w 326"/>
                <a:gd name="T37" fmla="*/ 62 h 272"/>
                <a:gd name="T38" fmla="*/ 131 w 326"/>
                <a:gd name="T39" fmla="*/ 86 h 272"/>
                <a:gd name="T40" fmla="*/ 110 w 326"/>
                <a:gd name="T41" fmla="*/ 107 h 272"/>
                <a:gd name="T42" fmla="*/ 89 w 326"/>
                <a:gd name="T43" fmla="*/ 83 h 272"/>
                <a:gd name="T44" fmla="*/ 87 w 326"/>
                <a:gd name="T45" fmla="*/ 80 h 272"/>
                <a:gd name="T46" fmla="*/ 58 w 326"/>
                <a:gd name="T47" fmla="*/ 102 h 272"/>
                <a:gd name="T48" fmla="*/ 54 w 326"/>
                <a:gd name="T49" fmla="*/ 75 h 272"/>
                <a:gd name="T50" fmla="*/ 49 w 326"/>
                <a:gd name="T51" fmla="*/ 84 h 272"/>
                <a:gd name="T52" fmla="*/ 33 w 326"/>
                <a:gd name="T53" fmla="*/ 75 h 272"/>
                <a:gd name="T54" fmla="*/ 2 w 326"/>
                <a:gd name="T55" fmla="*/ 165 h 272"/>
                <a:gd name="T56" fmla="*/ 18 w 326"/>
                <a:gd name="T57" fmla="*/ 133 h 272"/>
                <a:gd name="T58" fmla="*/ 25 w 326"/>
                <a:gd name="T59" fmla="*/ 167 h 272"/>
                <a:gd name="T60" fmla="*/ 49 w 326"/>
                <a:gd name="T61" fmla="*/ 259 h 272"/>
                <a:gd name="T62" fmla="*/ 55 w 326"/>
                <a:gd name="T63" fmla="*/ 259 h 272"/>
                <a:gd name="T64" fmla="*/ 80 w 326"/>
                <a:gd name="T65" fmla="*/ 167 h 272"/>
                <a:gd name="T66" fmla="*/ 86 w 326"/>
                <a:gd name="T67" fmla="*/ 109 h 272"/>
                <a:gd name="T68" fmla="*/ 102 w 326"/>
                <a:gd name="T69" fmla="*/ 126 h 272"/>
                <a:gd name="T70" fmla="*/ 156 w 326"/>
                <a:gd name="T71" fmla="*/ 215 h 272"/>
                <a:gd name="T72" fmla="*/ 151 w 326"/>
                <a:gd name="T73" fmla="*/ 271 h 272"/>
                <a:gd name="T74" fmla="*/ 204 w 326"/>
                <a:gd name="T75" fmla="*/ 215 h 272"/>
                <a:gd name="T76" fmla="*/ 212 w 326"/>
                <a:gd name="T77" fmla="*/ 247 h 272"/>
                <a:gd name="T78" fmla="*/ 251 w 326"/>
                <a:gd name="T79" fmla="*/ 215 h 272"/>
                <a:gd name="T80" fmla="*/ 273 w 326"/>
                <a:gd name="T81" fmla="*/ 271 h 272"/>
                <a:gd name="T82" fmla="*/ 274 w 326"/>
                <a:gd name="T83" fmla="*/ 215 h 272"/>
                <a:gd name="T84" fmla="*/ 142 w 326"/>
                <a:gd name="T85" fmla="*/ 208 h 272"/>
                <a:gd name="T86" fmla="*/ 211 w 326"/>
                <a:gd name="T87" fmla="*/ 0 h 272"/>
                <a:gd name="T88" fmla="*/ 219 w 326"/>
                <a:gd name="T89" fmla="*/ 26 h 272"/>
                <a:gd name="T90" fmla="*/ 112 w 326"/>
                <a:gd name="T91" fmla="*/ 30 h 272"/>
                <a:gd name="T92" fmla="*/ 106 w 326"/>
                <a:gd name="T93" fmla="*/ 97 h 272"/>
                <a:gd name="T94" fmla="*/ 112 w 326"/>
                <a:gd name="T95" fmla="*/ 39 h 272"/>
                <a:gd name="T96" fmla="*/ 317 w 326"/>
                <a:gd name="T97" fmla="*/ 45 h 272"/>
                <a:gd name="T98" fmla="*/ 311 w 326"/>
                <a:gd name="T99" fmla="*/ 194 h 272"/>
                <a:gd name="T100" fmla="*/ 106 w 326"/>
                <a:gd name="T101" fmla="*/ 188 h 272"/>
                <a:gd name="T102" fmla="*/ 102 w 326"/>
                <a:gd name="T103" fmla="*/ 131 h 272"/>
                <a:gd name="T104" fmla="*/ 97 w 326"/>
                <a:gd name="T105" fmla="*/ 127 h 272"/>
                <a:gd name="T106" fmla="*/ 311 w 326"/>
                <a:gd name="T107" fmla="*/ 204 h 272"/>
                <a:gd name="T108" fmla="*/ 311 w 326"/>
                <a:gd name="T109" fmla="*/ 3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6" h="272">
                  <a:moveTo>
                    <a:pt x="148" y="106"/>
                  </a:move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70" y="107"/>
                    <a:pt x="170" y="108"/>
                  </a:cubicBezTo>
                  <a:cubicBezTo>
                    <a:pt x="170" y="158"/>
                    <a:pt x="170" y="158"/>
                    <a:pt x="170" y="158"/>
                  </a:cubicBezTo>
                  <a:cubicBezTo>
                    <a:pt x="170" y="159"/>
                    <a:pt x="169" y="160"/>
                    <a:pt x="168" y="160"/>
                  </a:cubicBezTo>
                  <a:cubicBezTo>
                    <a:pt x="148" y="160"/>
                    <a:pt x="148" y="160"/>
                    <a:pt x="148" y="160"/>
                  </a:cubicBezTo>
                  <a:cubicBezTo>
                    <a:pt x="147" y="160"/>
                    <a:pt x="146" y="159"/>
                    <a:pt x="146" y="158"/>
                  </a:cubicBezTo>
                  <a:cubicBezTo>
                    <a:pt x="146" y="108"/>
                    <a:pt x="146" y="108"/>
                    <a:pt x="146" y="108"/>
                  </a:cubicBezTo>
                  <a:cubicBezTo>
                    <a:pt x="146" y="107"/>
                    <a:pt x="147" y="106"/>
                    <a:pt x="148" y="106"/>
                  </a:cubicBezTo>
                  <a:close/>
                  <a:moveTo>
                    <a:pt x="204" y="160"/>
                  </a:moveTo>
                  <a:cubicBezTo>
                    <a:pt x="205" y="160"/>
                    <a:pt x="206" y="159"/>
                    <a:pt x="206" y="158"/>
                  </a:cubicBezTo>
                  <a:cubicBezTo>
                    <a:pt x="206" y="83"/>
                    <a:pt x="206" y="83"/>
                    <a:pt x="206" y="83"/>
                  </a:cubicBezTo>
                  <a:cubicBezTo>
                    <a:pt x="206" y="82"/>
                    <a:pt x="205" y="81"/>
                    <a:pt x="204" y="81"/>
                  </a:cubicBezTo>
                  <a:cubicBezTo>
                    <a:pt x="183" y="81"/>
                    <a:pt x="183" y="81"/>
                    <a:pt x="183" y="81"/>
                  </a:cubicBezTo>
                  <a:cubicBezTo>
                    <a:pt x="182" y="81"/>
                    <a:pt x="181" y="82"/>
                    <a:pt x="181" y="83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1" y="159"/>
                    <a:pt x="182" y="160"/>
                    <a:pt x="183" y="160"/>
                  </a:cubicBezTo>
                  <a:lnTo>
                    <a:pt x="204" y="160"/>
                  </a:lnTo>
                  <a:close/>
                  <a:moveTo>
                    <a:pt x="239" y="160"/>
                  </a:moveTo>
                  <a:cubicBezTo>
                    <a:pt x="241" y="160"/>
                    <a:pt x="242" y="159"/>
                    <a:pt x="242" y="158"/>
                  </a:cubicBezTo>
                  <a:cubicBezTo>
                    <a:pt x="242" y="118"/>
                    <a:pt x="242" y="118"/>
                    <a:pt x="242" y="118"/>
                  </a:cubicBezTo>
                  <a:cubicBezTo>
                    <a:pt x="242" y="117"/>
                    <a:pt x="241" y="116"/>
                    <a:pt x="239" y="116"/>
                  </a:cubicBezTo>
                  <a:cubicBezTo>
                    <a:pt x="219" y="116"/>
                    <a:pt x="219" y="116"/>
                    <a:pt x="219" y="116"/>
                  </a:cubicBezTo>
                  <a:cubicBezTo>
                    <a:pt x="218" y="116"/>
                    <a:pt x="217" y="117"/>
                    <a:pt x="217" y="118"/>
                  </a:cubicBezTo>
                  <a:cubicBezTo>
                    <a:pt x="217" y="158"/>
                    <a:pt x="217" y="158"/>
                    <a:pt x="217" y="158"/>
                  </a:cubicBezTo>
                  <a:cubicBezTo>
                    <a:pt x="217" y="159"/>
                    <a:pt x="218" y="160"/>
                    <a:pt x="219" y="160"/>
                  </a:cubicBezTo>
                  <a:lnTo>
                    <a:pt x="239" y="160"/>
                  </a:lnTo>
                  <a:close/>
                  <a:moveTo>
                    <a:pt x="275" y="160"/>
                  </a:moveTo>
                  <a:cubicBezTo>
                    <a:pt x="276" y="160"/>
                    <a:pt x="277" y="159"/>
                    <a:pt x="277" y="158"/>
                  </a:cubicBezTo>
                  <a:cubicBezTo>
                    <a:pt x="277" y="97"/>
                    <a:pt x="277" y="97"/>
                    <a:pt x="277" y="97"/>
                  </a:cubicBezTo>
                  <a:cubicBezTo>
                    <a:pt x="277" y="96"/>
                    <a:pt x="276" y="95"/>
                    <a:pt x="275" y="95"/>
                  </a:cubicBezTo>
                  <a:cubicBezTo>
                    <a:pt x="255" y="95"/>
                    <a:pt x="255" y="95"/>
                    <a:pt x="255" y="95"/>
                  </a:cubicBezTo>
                  <a:cubicBezTo>
                    <a:pt x="253" y="95"/>
                    <a:pt x="252" y="96"/>
                    <a:pt x="252" y="97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52" y="159"/>
                    <a:pt x="253" y="160"/>
                    <a:pt x="255" y="160"/>
                  </a:cubicBezTo>
                  <a:lnTo>
                    <a:pt x="275" y="160"/>
                  </a:lnTo>
                  <a:close/>
                  <a:moveTo>
                    <a:pt x="32" y="50"/>
                  </a:moveTo>
                  <a:cubicBezTo>
                    <a:pt x="35" y="60"/>
                    <a:pt x="42" y="69"/>
                    <a:pt x="53" y="69"/>
                  </a:cubicBezTo>
                  <a:cubicBezTo>
                    <a:pt x="63" y="69"/>
                    <a:pt x="70" y="60"/>
                    <a:pt x="73" y="50"/>
                  </a:cubicBezTo>
                  <a:cubicBezTo>
                    <a:pt x="76" y="48"/>
                    <a:pt x="78" y="44"/>
                    <a:pt x="77" y="41"/>
                  </a:cubicBezTo>
                  <a:cubicBezTo>
                    <a:pt x="77" y="38"/>
                    <a:pt x="76" y="37"/>
                    <a:pt x="74" y="37"/>
                  </a:cubicBezTo>
                  <a:cubicBezTo>
                    <a:pt x="74" y="24"/>
                    <a:pt x="65" y="14"/>
                    <a:pt x="53" y="14"/>
                  </a:cubicBezTo>
                  <a:cubicBezTo>
                    <a:pt x="40" y="14"/>
                    <a:pt x="32" y="24"/>
                    <a:pt x="31" y="37"/>
                  </a:cubicBezTo>
                  <a:cubicBezTo>
                    <a:pt x="29" y="37"/>
                    <a:pt x="28" y="38"/>
                    <a:pt x="27" y="41"/>
                  </a:cubicBezTo>
                  <a:cubicBezTo>
                    <a:pt x="27" y="44"/>
                    <a:pt x="29" y="49"/>
                    <a:pt x="32" y="50"/>
                  </a:cubicBezTo>
                  <a:close/>
                  <a:moveTo>
                    <a:pt x="102" y="126"/>
                  </a:moveTo>
                  <a:cubicBezTo>
                    <a:pt x="103" y="127"/>
                    <a:pt x="103" y="127"/>
                    <a:pt x="104" y="127"/>
                  </a:cubicBezTo>
                  <a:cubicBezTo>
                    <a:pt x="104" y="128"/>
                    <a:pt x="105" y="128"/>
                    <a:pt x="106" y="128"/>
                  </a:cubicBezTo>
                  <a:cubicBezTo>
                    <a:pt x="107" y="129"/>
                    <a:pt x="108" y="129"/>
                    <a:pt x="109" y="129"/>
                  </a:cubicBezTo>
                  <a:cubicBezTo>
                    <a:pt x="110" y="129"/>
                    <a:pt x="111" y="128"/>
                    <a:pt x="112" y="128"/>
                  </a:cubicBezTo>
                  <a:cubicBezTo>
                    <a:pt x="114" y="128"/>
                    <a:pt x="115" y="127"/>
                    <a:pt x="116" y="127"/>
                  </a:cubicBezTo>
                  <a:cubicBezTo>
                    <a:pt x="117" y="126"/>
                    <a:pt x="118" y="125"/>
                    <a:pt x="120" y="124"/>
                  </a:cubicBezTo>
                  <a:cubicBezTo>
                    <a:pt x="122" y="121"/>
                    <a:pt x="125" y="119"/>
                    <a:pt x="128" y="116"/>
                  </a:cubicBezTo>
                  <a:cubicBezTo>
                    <a:pt x="136" y="108"/>
                    <a:pt x="145" y="98"/>
                    <a:pt x="145" y="98"/>
                  </a:cubicBezTo>
                  <a:cubicBezTo>
                    <a:pt x="148" y="95"/>
                    <a:pt x="148" y="89"/>
                    <a:pt x="145" y="85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6" y="65"/>
                    <a:pt x="166" y="63"/>
                    <a:pt x="165" y="62"/>
                  </a:cubicBezTo>
                  <a:cubicBezTo>
                    <a:pt x="164" y="61"/>
                    <a:pt x="162" y="61"/>
                    <a:pt x="161" y="62"/>
                  </a:cubicBezTo>
                  <a:cubicBezTo>
                    <a:pt x="139" y="83"/>
                    <a:pt x="139" y="83"/>
                    <a:pt x="139" y="83"/>
                  </a:cubicBezTo>
                  <a:cubicBezTo>
                    <a:pt x="136" y="82"/>
                    <a:pt x="133" y="83"/>
                    <a:pt x="13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29" y="87"/>
                    <a:pt x="123" y="94"/>
                    <a:pt x="117" y="100"/>
                  </a:cubicBezTo>
                  <a:cubicBezTo>
                    <a:pt x="115" y="103"/>
                    <a:pt x="112" y="105"/>
                    <a:pt x="110" y="107"/>
                  </a:cubicBezTo>
                  <a:cubicBezTo>
                    <a:pt x="108" y="106"/>
                    <a:pt x="106" y="104"/>
                    <a:pt x="105" y="102"/>
                  </a:cubicBezTo>
                  <a:cubicBezTo>
                    <a:pt x="101" y="97"/>
                    <a:pt x="96" y="92"/>
                    <a:pt x="93" y="88"/>
                  </a:cubicBezTo>
                  <a:cubicBezTo>
                    <a:pt x="91" y="86"/>
                    <a:pt x="90" y="84"/>
                    <a:pt x="89" y="83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1"/>
                    <a:pt x="87" y="81"/>
                    <a:pt x="87" y="81"/>
                  </a:cubicBezTo>
                  <a:cubicBezTo>
                    <a:pt x="87" y="81"/>
                    <a:pt x="87" y="81"/>
                    <a:pt x="87" y="80"/>
                  </a:cubicBezTo>
                  <a:cubicBezTo>
                    <a:pt x="86" y="79"/>
                    <a:pt x="83" y="77"/>
                    <a:pt x="73" y="74"/>
                  </a:cubicBezTo>
                  <a:cubicBezTo>
                    <a:pt x="71" y="74"/>
                    <a:pt x="69" y="73"/>
                    <a:pt x="67" y="73"/>
                  </a:cubicBezTo>
                  <a:cubicBezTo>
                    <a:pt x="66" y="77"/>
                    <a:pt x="65" y="88"/>
                    <a:pt x="58" y="102"/>
                  </a:cubicBezTo>
                  <a:cubicBezTo>
                    <a:pt x="57" y="93"/>
                    <a:pt x="55" y="85"/>
                    <a:pt x="55" y="84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47" y="78"/>
                    <a:pt x="47" y="78"/>
                    <a:pt x="47" y="78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9" y="85"/>
                    <a:pt x="48" y="93"/>
                    <a:pt x="47" y="102"/>
                  </a:cubicBezTo>
                  <a:cubicBezTo>
                    <a:pt x="40" y="88"/>
                    <a:pt x="38" y="77"/>
                    <a:pt x="38" y="73"/>
                  </a:cubicBezTo>
                  <a:cubicBezTo>
                    <a:pt x="36" y="73"/>
                    <a:pt x="34" y="74"/>
                    <a:pt x="33" y="75"/>
                  </a:cubicBezTo>
                  <a:cubicBezTo>
                    <a:pt x="27" y="76"/>
                    <a:pt x="18" y="79"/>
                    <a:pt x="14" y="82"/>
                  </a:cubicBezTo>
                  <a:cubicBezTo>
                    <a:pt x="11" y="84"/>
                    <a:pt x="3" y="96"/>
                    <a:pt x="0" y="132"/>
                  </a:cubicBezTo>
                  <a:cubicBezTo>
                    <a:pt x="0" y="143"/>
                    <a:pt x="2" y="165"/>
                    <a:pt x="2" y="165"/>
                  </a:cubicBezTo>
                  <a:cubicBezTo>
                    <a:pt x="3" y="171"/>
                    <a:pt x="4" y="176"/>
                    <a:pt x="10" y="176"/>
                  </a:cubicBezTo>
                  <a:cubicBezTo>
                    <a:pt x="17" y="177"/>
                    <a:pt x="19" y="172"/>
                    <a:pt x="19" y="166"/>
                  </a:cubicBezTo>
                  <a:cubicBezTo>
                    <a:pt x="19" y="166"/>
                    <a:pt x="17" y="148"/>
                    <a:pt x="18" y="133"/>
                  </a:cubicBezTo>
                  <a:cubicBezTo>
                    <a:pt x="19" y="121"/>
                    <a:pt x="22" y="104"/>
                    <a:pt x="24" y="103"/>
                  </a:cubicBezTo>
                  <a:cubicBezTo>
                    <a:pt x="24" y="103"/>
                    <a:pt x="24" y="161"/>
                    <a:pt x="24" y="161"/>
                  </a:cubicBezTo>
                  <a:cubicBezTo>
                    <a:pt x="24" y="163"/>
                    <a:pt x="24" y="165"/>
                    <a:pt x="25" y="167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5" y="266"/>
                    <a:pt x="30" y="271"/>
                    <a:pt x="37" y="271"/>
                  </a:cubicBezTo>
                  <a:cubicBezTo>
                    <a:pt x="44" y="271"/>
                    <a:pt x="49" y="266"/>
                    <a:pt x="49" y="259"/>
                  </a:cubicBezTo>
                  <a:cubicBezTo>
                    <a:pt x="49" y="177"/>
                    <a:pt x="49" y="177"/>
                    <a:pt x="49" y="177"/>
                  </a:cubicBezTo>
                  <a:cubicBezTo>
                    <a:pt x="55" y="177"/>
                    <a:pt x="55" y="177"/>
                    <a:pt x="55" y="177"/>
                  </a:cubicBezTo>
                  <a:cubicBezTo>
                    <a:pt x="55" y="259"/>
                    <a:pt x="55" y="259"/>
                    <a:pt x="55" y="259"/>
                  </a:cubicBezTo>
                  <a:cubicBezTo>
                    <a:pt x="55" y="266"/>
                    <a:pt x="61" y="271"/>
                    <a:pt x="68" y="271"/>
                  </a:cubicBezTo>
                  <a:cubicBezTo>
                    <a:pt x="74" y="271"/>
                    <a:pt x="80" y="266"/>
                    <a:pt x="80" y="259"/>
                  </a:cubicBezTo>
                  <a:cubicBezTo>
                    <a:pt x="80" y="167"/>
                    <a:pt x="80" y="167"/>
                    <a:pt x="80" y="167"/>
                  </a:cubicBezTo>
                  <a:cubicBezTo>
                    <a:pt x="80" y="165"/>
                    <a:pt x="81" y="163"/>
                    <a:pt x="81" y="161"/>
                  </a:cubicBezTo>
                  <a:cubicBezTo>
                    <a:pt x="81" y="103"/>
                    <a:pt x="81" y="103"/>
                    <a:pt x="81" y="103"/>
                  </a:cubicBezTo>
                  <a:cubicBezTo>
                    <a:pt x="82" y="105"/>
                    <a:pt x="84" y="107"/>
                    <a:pt x="86" y="109"/>
                  </a:cubicBezTo>
                  <a:cubicBezTo>
                    <a:pt x="89" y="113"/>
                    <a:pt x="93" y="117"/>
                    <a:pt x="96" y="120"/>
                  </a:cubicBezTo>
                  <a:cubicBezTo>
                    <a:pt x="97" y="122"/>
                    <a:pt x="99" y="123"/>
                    <a:pt x="100" y="124"/>
                  </a:cubicBezTo>
                  <a:cubicBezTo>
                    <a:pt x="101" y="125"/>
                    <a:pt x="101" y="126"/>
                    <a:pt x="102" y="126"/>
                  </a:cubicBezTo>
                  <a:close/>
                  <a:moveTo>
                    <a:pt x="142" y="208"/>
                  </a:moveTo>
                  <a:cubicBezTo>
                    <a:pt x="142" y="212"/>
                    <a:pt x="145" y="215"/>
                    <a:pt x="148" y="215"/>
                  </a:cubicBezTo>
                  <a:cubicBezTo>
                    <a:pt x="156" y="215"/>
                    <a:pt x="156" y="215"/>
                    <a:pt x="156" y="215"/>
                  </a:cubicBezTo>
                  <a:cubicBezTo>
                    <a:pt x="145" y="262"/>
                    <a:pt x="145" y="262"/>
                    <a:pt x="145" y="262"/>
                  </a:cubicBezTo>
                  <a:cubicBezTo>
                    <a:pt x="144" y="266"/>
                    <a:pt x="147" y="270"/>
                    <a:pt x="150" y="271"/>
                  </a:cubicBezTo>
                  <a:cubicBezTo>
                    <a:pt x="151" y="271"/>
                    <a:pt x="151" y="271"/>
                    <a:pt x="151" y="271"/>
                  </a:cubicBezTo>
                  <a:cubicBezTo>
                    <a:pt x="155" y="272"/>
                    <a:pt x="159" y="270"/>
                    <a:pt x="160" y="266"/>
                  </a:cubicBezTo>
                  <a:cubicBezTo>
                    <a:pt x="172" y="215"/>
                    <a:pt x="172" y="215"/>
                    <a:pt x="172" y="215"/>
                  </a:cubicBezTo>
                  <a:cubicBezTo>
                    <a:pt x="204" y="215"/>
                    <a:pt x="204" y="215"/>
                    <a:pt x="204" y="215"/>
                  </a:cubicBezTo>
                  <a:cubicBezTo>
                    <a:pt x="204" y="240"/>
                    <a:pt x="204" y="240"/>
                    <a:pt x="204" y="240"/>
                  </a:cubicBezTo>
                  <a:cubicBezTo>
                    <a:pt x="204" y="244"/>
                    <a:pt x="207" y="247"/>
                    <a:pt x="211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6" y="247"/>
                    <a:pt x="219" y="244"/>
                    <a:pt x="219" y="240"/>
                  </a:cubicBezTo>
                  <a:cubicBezTo>
                    <a:pt x="219" y="215"/>
                    <a:pt x="219" y="215"/>
                    <a:pt x="219" y="215"/>
                  </a:cubicBezTo>
                  <a:cubicBezTo>
                    <a:pt x="251" y="215"/>
                    <a:pt x="251" y="215"/>
                    <a:pt x="251" y="215"/>
                  </a:cubicBezTo>
                  <a:cubicBezTo>
                    <a:pt x="263" y="266"/>
                    <a:pt x="263" y="266"/>
                    <a:pt x="263" y="266"/>
                  </a:cubicBezTo>
                  <a:cubicBezTo>
                    <a:pt x="264" y="270"/>
                    <a:pt x="268" y="272"/>
                    <a:pt x="272" y="271"/>
                  </a:cubicBezTo>
                  <a:cubicBezTo>
                    <a:pt x="273" y="271"/>
                    <a:pt x="273" y="271"/>
                    <a:pt x="273" y="271"/>
                  </a:cubicBezTo>
                  <a:cubicBezTo>
                    <a:pt x="277" y="270"/>
                    <a:pt x="279" y="266"/>
                    <a:pt x="278" y="262"/>
                  </a:cubicBezTo>
                  <a:cubicBezTo>
                    <a:pt x="267" y="215"/>
                    <a:pt x="267" y="215"/>
                    <a:pt x="267" y="215"/>
                  </a:cubicBezTo>
                  <a:cubicBezTo>
                    <a:pt x="274" y="215"/>
                    <a:pt x="274" y="215"/>
                    <a:pt x="274" y="215"/>
                  </a:cubicBezTo>
                  <a:cubicBezTo>
                    <a:pt x="278" y="215"/>
                    <a:pt x="281" y="212"/>
                    <a:pt x="281" y="208"/>
                  </a:cubicBezTo>
                  <a:cubicBezTo>
                    <a:pt x="281" y="208"/>
                    <a:pt x="281" y="208"/>
                    <a:pt x="281" y="208"/>
                  </a:cubicBezTo>
                  <a:cubicBezTo>
                    <a:pt x="142" y="208"/>
                    <a:pt x="142" y="208"/>
                    <a:pt x="142" y="208"/>
                  </a:cubicBezTo>
                  <a:close/>
                  <a:moveTo>
                    <a:pt x="219" y="8"/>
                  </a:moveTo>
                  <a:cubicBezTo>
                    <a:pt x="219" y="3"/>
                    <a:pt x="216" y="0"/>
                    <a:pt x="212" y="0"/>
                  </a:cubicBezTo>
                  <a:cubicBezTo>
                    <a:pt x="211" y="0"/>
                    <a:pt x="211" y="0"/>
                    <a:pt x="211" y="0"/>
                  </a:cubicBezTo>
                  <a:cubicBezTo>
                    <a:pt x="207" y="0"/>
                    <a:pt x="204" y="3"/>
                    <a:pt x="204" y="8"/>
                  </a:cubicBezTo>
                  <a:cubicBezTo>
                    <a:pt x="204" y="26"/>
                    <a:pt x="204" y="26"/>
                    <a:pt x="204" y="26"/>
                  </a:cubicBezTo>
                  <a:cubicBezTo>
                    <a:pt x="219" y="26"/>
                    <a:pt x="219" y="26"/>
                    <a:pt x="219" y="26"/>
                  </a:cubicBezTo>
                  <a:lnTo>
                    <a:pt x="219" y="8"/>
                  </a:lnTo>
                  <a:close/>
                  <a:moveTo>
                    <a:pt x="311" y="30"/>
                  </a:moveTo>
                  <a:cubicBezTo>
                    <a:pt x="112" y="30"/>
                    <a:pt x="112" y="30"/>
                    <a:pt x="112" y="30"/>
                  </a:cubicBezTo>
                  <a:cubicBezTo>
                    <a:pt x="104" y="30"/>
                    <a:pt x="97" y="37"/>
                    <a:pt x="97" y="45"/>
                  </a:cubicBezTo>
                  <a:cubicBezTo>
                    <a:pt x="97" y="86"/>
                    <a:pt x="97" y="86"/>
                    <a:pt x="97" y="86"/>
                  </a:cubicBezTo>
                  <a:cubicBezTo>
                    <a:pt x="99" y="89"/>
                    <a:pt x="103" y="93"/>
                    <a:pt x="106" y="97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106" y="44"/>
                    <a:pt x="107" y="42"/>
                    <a:pt x="108" y="41"/>
                  </a:cubicBezTo>
                  <a:cubicBezTo>
                    <a:pt x="109" y="40"/>
                    <a:pt x="110" y="39"/>
                    <a:pt x="112" y="39"/>
                  </a:cubicBezTo>
                  <a:cubicBezTo>
                    <a:pt x="311" y="39"/>
                    <a:pt x="311" y="39"/>
                    <a:pt x="311" y="39"/>
                  </a:cubicBezTo>
                  <a:cubicBezTo>
                    <a:pt x="313" y="39"/>
                    <a:pt x="314" y="40"/>
                    <a:pt x="315" y="41"/>
                  </a:cubicBezTo>
                  <a:cubicBezTo>
                    <a:pt x="316" y="42"/>
                    <a:pt x="317" y="44"/>
                    <a:pt x="317" y="45"/>
                  </a:cubicBezTo>
                  <a:cubicBezTo>
                    <a:pt x="317" y="188"/>
                    <a:pt x="317" y="188"/>
                    <a:pt x="317" y="188"/>
                  </a:cubicBezTo>
                  <a:cubicBezTo>
                    <a:pt x="317" y="190"/>
                    <a:pt x="316" y="192"/>
                    <a:pt x="315" y="193"/>
                  </a:cubicBezTo>
                  <a:cubicBezTo>
                    <a:pt x="314" y="194"/>
                    <a:pt x="313" y="194"/>
                    <a:pt x="311" y="194"/>
                  </a:cubicBezTo>
                  <a:cubicBezTo>
                    <a:pt x="112" y="194"/>
                    <a:pt x="112" y="194"/>
                    <a:pt x="112" y="194"/>
                  </a:cubicBezTo>
                  <a:cubicBezTo>
                    <a:pt x="110" y="194"/>
                    <a:pt x="109" y="194"/>
                    <a:pt x="108" y="193"/>
                  </a:cubicBezTo>
                  <a:cubicBezTo>
                    <a:pt x="107" y="192"/>
                    <a:pt x="106" y="190"/>
                    <a:pt x="106" y="188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3"/>
                    <a:pt x="105" y="132"/>
                    <a:pt x="105" y="132"/>
                  </a:cubicBezTo>
                  <a:cubicBezTo>
                    <a:pt x="103" y="132"/>
                    <a:pt x="102" y="131"/>
                    <a:pt x="102" y="131"/>
                  </a:cubicBezTo>
                  <a:cubicBezTo>
                    <a:pt x="101" y="130"/>
                    <a:pt x="100" y="130"/>
                    <a:pt x="100" y="130"/>
                  </a:cubicBezTo>
                  <a:cubicBezTo>
                    <a:pt x="99" y="129"/>
                    <a:pt x="98" y="128"/>
                    <a:pt x="97" y="128"/>
                  </a:cubicBezTo>
                  <a:cubicBezTo>
                    <a:pt x="97" y="128"/>
                    <a:pt x="97" y="127"/>
                    <a:pt x="97" y="127"/>
                  </a:cubicBezTo>
                  <a:cubicBezTo>
                    <a:pt x="97" y="188"/>
                    <a:pt x="97" y="188"/>
                    <a:pt x="97" y="188"/>
                  </a:cubicBezTo>
                  <a:cubicBezTo>
                    <a:pt x="97" y="197"/>
                    <a:pt x="104" y="204"/>
                    <a:pt x="112" y="204"/>
                  </a:cubicBezTo>
                  <a:cubicBezTo>
                    <a:pt x="311" y="204"/>
                    <a:pt x="311" y="204"/>
                    <a:pt x="311" y="204"/>
                  </a:cubicBezTo>
                  <a:cubicBezTo>
                    <a:pt x="319" y="204"/>
                    <a:pt x="326" y="197"/>
                    <a:pt x="326" y="188"/>
                  </a:cubicBezTo>
                  <a:cubicBezTo>
                    <a:pt x="326" y="45"/>
                    <a:pt x="326" y="45"/>
                    <a:pt x="326" y="45"/>
                  </a:cubicBezTo>
                  <a:cubicBezTo>
                    <a:pt x="326" y="37"/>
                    <a:pt x="319" y="30"/>
                    <a:pt x="311" y="3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A1189F0A-034F-8B4D-AB2B-24655F0780D6}"/>
              </a:ext>
            </a:extLst>
          </p:cNvPr>
          <p:cNvSpPr txBox="1"/>
          <p:nvPr/>
        </p:nvSpPr>
        <p:spPr>
          <a:xfrm>
            <a:off x="9682887" y="5825143"/>
            <a:ext cx="2333658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分析报表：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10+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图表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59DD72D-CA7D-5E4D-B804-0C5480A1B0F1}"/>
              </a:ext>
            </a:extLst>
          </p:cNvPr>
          <p:cNvSpPr txBox="1"/>
          <p:nvPr/>
        </p:nvSpPr>
        <p:spPr>
          <a:xfrm>
            <a:off x="5536428" y="3041540"/>
            <a:ext cx="2333658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案件过程指标数据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6AEC019-30F5-E14F-8880-778670B7EC5E}"/>
              </a:ext>
            </a:extLst>
          </p:cNvPr>
          <p:cNvSpPr txBox="1"/>
          <p:nvPr/>
        </p:nvSpPr>
        <p:spPr>
          <a:xfrm>
            <a:off x="9148756" y="3041540"/>
            <a:ext cx="2333658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触达指标数据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EF77979-8C2C-7447-874F-7D2182389BF0}"/>
              </a:ext>
            </a:extLst>
          </p:cNvPr>
          <p:cNvSpPr txBox="1"/>
          <p:nvPr/>
        </p:nvSpPr>
        <p:spPr>
          <a:xfrm>
            <a:off x="55417" y="1740776"/>
            <a:ext cx="1329471" cy="4589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业务分析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C467DEB-7626-7A4F-A6DE-936BFB5A6590}"/>
              </a:ext>
            </a:extLst>
          </p:cNvPr>
          <p:cNvSpPr txBox="1"/>
          <p:nvPr/>
        </p:nvSpPr>
        <p:spPr>
          <a:xfrm>
            <a:off x="136737" y="2833791"/>
            <a:ext cx="1166830" cy="8744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新增数据指标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D797627-3063-D743-885E-B62B031DE659}"/>
              </a:ext>
            </a:extLst>
          </p:cNvPr>
          <p:cNvSpPr txBox="1"/>
          <p:nvPr/>
        </p:nvSpPr>
        <p:spPr>
          <a:xfrm>
            <a:off x="425528" y="4405016"/>
            <a:ext cx="589249" cy="17054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使用成果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729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4844"/>
            <a:ext cx="12192000" cy="720359"/>
          </a:xfrm>
          <a:prstGeom prst="rect">
            <a:avLst/>
          </a:prstGeom>
          <a:solidFill>
            <a:srgbClr val="305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7792967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/>
          <a:p>
            <a:pPr>
              <a:spcBef>
                <a:spcPct val="20000"/>
              </a:spcBef>
              <a:buFont typeface="Arial" charset="0"/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4.4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催收数据模型：分析更快、更高效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06387D-4367-8828-C6DB-589B9FA31D39}"/>
              </a:ext>
            </a:extLst>
          </p:cNvPr>
          <p:cNvSpPr txBox="1"/>
          <p:nvPr/>
        </p:nvSpPr>
        <p:spPr>
          <a:xfrm>
            <a:off x="33868" y="810538"/>
            <a:ext cx="12071586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下游核心指标分析任务不断迭代，已完成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任务优化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其中耗时长的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任务，耗时平均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82%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、近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1h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；计算资源每日累计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节约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13800CU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Min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$4100/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41772A73-0303-5344-9316-D4B089EC5F05}"/>
              </a:ext>
            </a:extLst>
          </p:cNvPr>
          <p:cNvGraphicFramePr>
            <a:graphicFrameLocks/>
          </p:cNvGraphicFramePr>
          <p:nvPr/>
        </p:nvGraphicFramePr>
        <p:xfrm>
          <a:off x="61785" y="2082339"/>
          <a:ext cx="59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DD70BF29-8DED-6947-826E-910AB5ED5C32}"/>
              </a:ext>
            </a:extLst>
          </p:cNvPr>
          <p:cNvGraphicFramePr>
            <a:graphicFrameLocks/>
          </p:cNvGraphicFramePr>
          <p:nvPr/>
        </p:nvGraphicFramePr>
        <p:xfrm>
          <a:off x="6190215" y="2095518"/>
          <a:ext cx="59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06443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F6A7C9-49F8-B0A9-400F-9CC29AF125F3}"/>
              </a:ext>
            </a:extLst>
          </p:cNvPr>
          <p:cNvSpPr/>
          <p:nvPr/>
        </p:nvSpPr>
        <p:spPr>
          <a:xfrm>
            <a:off x="0" y="4844"/>
            <a:ext cx="12192000" cy="720359"/>
          </a:xfrm>
          <a:prstGeom prst="rect">
            <a:avLst/>
          </a:prstGeom>
          <a:solidFill>
            <a:srgbClr val="305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FCFA5B-D401-54E7-F144-2322C0058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108000"/>
            <a:ext cx="7792967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/>
          <a:p>
            <a:pPr>
              <a:spcBef>
                <a:spcPct val="20000"/>
              </a:spcBef>
              <a:buFont typeface="Arial" charset="0"/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4.5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催收数据模型：数据字典沉淀数据资产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B7AF99-19DD-D44F-B83D-88609F602AC6}"/>
              </a:ext>
            </a:extLst>
          </p:cNvPr>
          <p:cNvSpPr txBox="1"/>
          <p:nvPr/>
        </p:nvSpPr>
        <p:spPr>
          <a:xfrm>
            <a:off x="33868" y="810538"/>
            <a:ext cx="12071586" cy="78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案件、过程、委外等二级主题域目录更清晰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资产更轻量：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老版本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60+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数据到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张（核心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张）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B019304-13CD-BD49-9185-BDBFF0CC4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3" y="1776645"/>
            <a:ext cx="12103154" cy="48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83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000" y="360000"/>
            <a:ext cx="620757" cy="396000"/>
          </a:xfrm>
          <a:prstGeom prst="rect">
            <a:avLst/>
          </a:prstGeom>
        </p:spPr>
      </p:pic>
      <p:sp>
        <p:nvSpPr>
          <p:cNvPr id="1048800" name="标题 1"/>
          <p:cNvSpPr>
            <a:spLocks noGrp="1"/>
          </p:cNvSpPr>
          <p:nvPr>
            <p:ph type="ctrTitle" idx="4294967295"/>
          </p:nvPr>
        </p:nvSpPr>
        <p:spPr>
          <a:xfrm>
            <a:off x="701146" y="1134570"/>
            <a:ext cx="9562994" cy="4856655"/>
          </a:xfrm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1. </a:t>
            </a:r>
            <a:r>
              <a:rPr kumimoji="1"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实现全业务全面、轻量化的管理</a:t>
            </a:r>
            <a:b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   便利日后的策略分析，覆盖更全面的业务场景</a:t>
            </a:r>
            <a:br>
              <a: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kumimoji="1"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r>
              <a:rPr kumimoji="1"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2. </a:t>
            </a:r>
            <a:r>
              <a:rPr kumimoji="1"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建立业务数据团队的良好配合机制</a:t>
            </a:r>
            <a:b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r>
              <a:rPr kumimoji="1"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和数据团队形成高效、准确的合作关系</a:t>
            </a:r>
            <a:b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   主营海外的合作交流实例</a:t>
            </a:r>
            <a:br>
              <a:rPr kumimoji="1"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br>
              <a: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r>
              <a:rPr kumimoji="1"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 </a:t>
            </a:r>
            <a:r>
              <a:rPr kumimoji="1"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可复制性</a:t>
            </a:r>
            <a:b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   数据模型的复制</a:t>
            </a:r>
            <a:b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r>
              <a:rPr kumimoji="1"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   催收数据管理体系的复制</a:t>
            </a:r>
            <a:endParaRPr kumimoji="1" lang="zh-CN" altLang="en-US" sz="18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F56FCA4-AC2A-4158-B7C2-9B6FF38B20A2}"/>
              </a:ext>
            </a:extLst>
          </p:cNvPr>
          <p:cNvSpPr txBox="1">
            <a:spLocks/>
          </p:cNvSpPr>
          <p:nvPr/>
        </p:nvSpPr>
        <p:spPr>
          <a:xfrm>
            <a:off x="598275" y="265517"/>
            <a:ext cx="2649749" cy="5849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zh-CN" altLang="en-US" sz="3200" b="1" dirty="0">
                <a:solidFill>
                  <a:srgbClr val="B0C2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经验沉淀</a:t>
            </a:r>
          </a:p>
        </p:txBody>
      </p:sp>
    </p:spTree>
    <p:extLst>
      <p:ext uri="{BB962C8B-B14F-4D97-AF65-F5344CB8AC3E}">
        <p14:creationId xmlns:p14="http://schemas.microsoft.com/office/powerpoint/2010/main" val="71680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5" name="直接连接符 23"/>
          <p:cNvCxnSpPr>
            <a:cxnSpLocks/>
          </p:cNvCxnSpPr>
          <p:nvPr/>
        </p:nvCxnSpPr>
        <p:spPr>
          <a:xfrm flipH="1">
            <a:off x="654269" y="3155725"/>
            <a:ext cx="10816109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9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000" y="360000"/>
            <a:ext cx="620757" cy="396000"/>
          </a:xfrm>
          <a:prstGeom prst="rect">
            <a:avLst/>
          </a:prstGeom>
        </p:spPr>
      </p:pic>
      <p:sp>
        <p:nvSpPr>
          <p:cNvPr id="1048800" name="标题 1"/>
          <p:cNvSpPr>
            <a:spLocks noGrp="1"/>
          </p:cNvSpPr>
          <p:nvPr>
            <p:ph type="ctrTitle" idx="4294967295"/>
          </p:nvPr>
        </p:nvSpPr>
        <p:spPr>
          <a:xfrm>
            <a:off x="575414" y="1834732"/>
            <a:ext cx="10816109" cy="960120"/>
          </a:xfrm>
        </p:spPr>
        <p:txBody>
          <a:bodyPr>
            <a:noAutofit/>
          </a:bodyPr>
          <a:lstStyle/>
          <a:p>
            <a:pPr algn="ctr"/>
            <a:r>
              <a:rPr kumimoji="1" lang="en-US" altLang="zh-CN" sz="6600" b="1" dirty="0">
                <a:solidFill>
                  <a:schemeClr val="bg1"/>
                </a:solidFill>
                <a:latin typeface="Georgia" panose="02040502050405020303" pitchFamily="18" charset="0"/>
                <a:ea typeface="华文楷体" panose="02010600040101010101" pitchFamily="2" charset="-122"/>
                <a:cs typeface="Calibri" panose="020F0502020204030204" pitchFamily="34" charset="0"/>
              </a:rPr>
              <a:t>Thanks</a:t>
            </a:r>
            <a:endParaRPr kumimoji="1" lang="zh-CN" altLang="en-US" sz="6600" b="1" dirty="0">
              <a:solidFill>
                <a:srgbClr val="FFC000"/>
              </a:solidFill>
              <a:latin typeface="Georgia" panose="02040502050405020303" pitchFamily="18" charset="0"/>
              <a:ea typeface="华文楷体" panose="02010600040101010101" pitchFamily="2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265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62683</TotalTime>
  <Words>1771</Words>
  <Application>Microsoft Office PowerPoint</Application>
  <PresentationFormat>宽屏</PresentationFormat>
  <Paragraphs>240</Paragraphs>
  <Slides>21</Slides>
  <Notes>18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FontAwesome</vt:lpstr>
      <vt:lpstr>Microsoft YaHei Light</vt:lpstr>
      <vt:lpstr>等线</vt:lpstr>
      <vt:lpstr>等线 Light</vt:lpstr>
      <vt:lpstr>Microsoft YaHei</vt:lpstr>
      <vt:lpstr>Microsoft YaHei</vt:lpstr>
      <vt:lpstr>Arial</vt:lpstr>
      <vt:lpstr>Calibri</vt:lpstr>
      <vt:lpstr>Georgia</vt:lpstr>
      <vt:lpstr>Roboto Black</vt:lpstr>
      <vt:lpstr>Roboto Light</vt:lpstr>
      <vt:lpstr>Wingdings</vt:lpstr>
      <vt:lpstr>Office 主题​​</vt:lpstr>
      <vt:lpstr>海外催收智汇数据底座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实现全业务全面、轻量化的管理     便利日后的策略分析，覆盖更全面的业务场景  2. 建立业务数据团队的良好配合机制     和数据团队形成高效、准确的合作关系     主营海外的合作交流实例  3. 可复制性     数据模型的复制     催收数据管理体系的复制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Philippines Business</dc:title>
  <dc:creator>Office</dc:creator>
  <cp:lastModifiedBy>袁鹏</cp:lastModifiedBy>
  <cp:revision>645</cp:revision>
  <dcterms:created xsi:type="dcterms:W3CDTF">2022-08-14T03:12:11Z</dcterms:created>
  <dcterms:modified xsi:type="dcterms:W3CDTF">2026-02-09T07:58:23Z</dcterms:modified>
</cp:coreProperties>
</file>